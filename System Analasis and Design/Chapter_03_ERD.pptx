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5" r:id="rId15"/>
    <p:sldId id="276" r:id="rId16"/>
    <p:sldId id="277" r:id="rId17"/>
    <p:sldId id="270" r:id="rId18"/>
    <p:sldId id="271" r:id="rId19"/>
    <p:sldId id="274" r:id="rId20"/>
    <p:sldId id="272" r:id="rId21"/>
    <p:sldId id="273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90" r:id="rId33"/>
    <p:sldId id="288" r:id="rId34"/>
    <p:sldId id="289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6725-0CD6-42C3-BD68-8E12671B5CD9}" type="datetimeFigureOut">
              <a:rPr lang="vi-VN" smtClean="0"/>
              <a:t>25/01/2019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B8D-96AC-4DBF-872B-40E2685B0601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02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6725-0CD6-42C3-BD68-8E12671B5CD9}" type="datetimeFigureOut">
              <a:rPr lang="vi-VN" smtClean="0"/>
              <a:t>25/01/2019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B8D-96AC-4DBF-872B-40E2685B06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865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6725-0CD6-42C3-BD68-8E12671B5CD9}" type="datetimeFigureOut">
              <a:rPr lang="vi-VN" smtClean="0"/>
              <a:t>25/01/2019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B8D-96AC-4DBF-872B-40E2685B0601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687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6725-0CD6-42C3-BD68-8E12671B5CD9}" type="datetimeFigureOut">
              <a:rPr lang="vi-VN" smtClean="0"/>
              <a:t>25/01/2019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B8D-96AC-4DBF-872B-40E2685B06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66730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6725-0CD6-42C3-BD68-8E12671B5CD9}" type="datetimeFigureOut">
              <a:rPr lang="vi-VN" smtClean="0"/>
              <a:t>25/01/2019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B8D-96AC-4DBF-872B-40E2685B06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3124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6725-0CD6-42C3-BD68-8E12671B5CD9}" type="datetimeFigureOut">
              <a:rPr lang="vi-VN" smtClean="0"/>
              <a:t>25/01/2019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B8D-96AC-4DBF-872B-40E2685B06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6196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6725-0CD6-42C3-BD68-8E12671B5CD9}" type="datetimeFigureOut">
              <a:rPr lang="vi-VN" smtClean="0"/>
              <a:t>25/01/2019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B8D-96AC-4DBF-872B-40E2685B06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0911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9DA6725-0CD6-42C3-BD68-8E12671B5CD9}" type="datetimeFigureOut">
              <a:rPr lang="vi-VN" smtClean="0"/>
              <a:t>25/01/2019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C52B8D-96AC-4DBF-872B-40E2685B06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349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6725-0CD6-42C3-BD68-8E12671B5CD9}" type="datetimeFigureOut">
              <a:rPr lang="vi-VN" smtClean="0"/>
              <a:t>25/01/2019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B8D-96AC-4DBF-872B-40E2685B06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149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6725-0CD6-42C3-BD68-8E12671B5CD9}" type="datetimeFigureOut">
              <a:rPr lang="vi-VN" smtClean="0"/>
              <a:t>25/01/2019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B8D-96AC-4DBF-872B-40E2685B06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6563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6725-0CD6-42C3-BD68-8E12671B5CD9}" type="datetimeFigureOut">
              <a:rPr lang="vi-VN" smtClean="0"/>
              <a:t>25/01/2019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B8D-96AC-4DBF-872B-40E2685B060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02934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9DA6725-0CD6-42C3-BD68-8E12671B5CD9}" type="datetimeFigureOut">
              <a:rPr lang="vi-VN" smtClean="0"/>
              <a:t>25/01/2019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CC52B8D-96AC-4DBF-872B-40E2685B0601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44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01203"/>
            <a:ext cx="10058400" cy="1450757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 DIAGRAM (ERD)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31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Key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Data </a:t>
            </a:r>
            <a:r>
              <a:rPr lang="en-US" sz="3200" dirty="0" smtClean="0">
                <a:solidFill>
                  <a:srgbClr val="FF0000"/>
                </a:solidFill>
              </a:rPr>
              <a:t>model (</a:t>
            </a:r>
            <a:r>
              <a:rPr lang="en-US" sz="3200" smtClean="0">
                <a:solidFill>
                  <a:srgbClr val="FF0000"/>
                </a:solidFill>
              </a:rPr>
              <a:t>Conceptual Data Model)</a:t>
            </a:r>
            <a:endParaRPr lang="en-US" sz="3200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0070C0"/>
                </a:solidFill>
              </a:rPr>
              <a:t>formal way</a:t>
            </a:r>
            <a:r>
              <a:rPr lang="en-US" sz="2800" dirty="0"/>
              <a:t> of representing the data </a:t>
            </a:r>
            <a:r>
              <a:rPr lang="en-US" sz="2800" dirty="0" smtClean="0"/>
              <a:t>that are </a:t>
            </a:r>
            <a:r>
              <a:rPr lang="en-US" sz="2800" dirty="0"/>
              <a:t>used and created by a business </a:t>
            </a:r>
            <a:r>
              <a:rPr lang="en-US" sz="2800" dirty="0" smtClean="0"/>
              <a:t>system.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Shows the </a:t>
            </a:r>
            <a:r>
              <a:rPr lang="en-US" sz="2800" dirty="0">
                <a:solidFill>
                  <a:srgbClr val="0070C0"/>
                </a:solidFill>
              </a:rPr>
              <a:t>people, places and things</a:t>
            </a:r>
            <a:r>
              <a:rPr lang="en-US" sz="2800" dirty="0"/>
              <a:t> </a:t>
            </a:r>
            <a:r>
              <a:rPr lang="en-US" sz="2800" dirty="0" smtClean="0"/>
              <a:t>about which </a:t>
            </a:r>
            <a:r>
              <a:rPr lang="en-US" sz="2800" dirty="0"/>
              <a:t>data is </a:t>
            </a:r>
            <a:r>
              <a:rPr lang="en-US" sz="2800" dirty="0">
                <a:solidFill>
                  <a:srgbClr val="0070C0"/>
                </a:solidFill>
              </a:rPr>
              <a:t>captured</a:t>
            </a:r>
            <a:r>
              <a:rPr lang="en-US" sz="2800" dirty="0"/>
              <a:t> and the </a:t>
            </a:r>
            <a:r>
              <a:rPr lang="en-US" sz="2800" dirty="0" smtClean="0">
                <a:solidFill>
                  <a:srgbClr val="0070C0"/>
                </a:solidFill>
              </a:rPr>
              <a:t>relationships among </a:t>
            </a:r>
            <a:r>
              <a:rPr lang="en-US" sz="2800" dirty="0">
                <a:solidFill>
                  <a:srgbClr val="0070C0"/>
                </a:solidFill>
              </a:rPr>
              <a:t>them</a:t>
            </a:r>
            <a:r>
              <a:rPr lang="en-US" sz="28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Logical </a:t>
            </a:r>
            <a:r>
              <a:rPr lang="en-US" sz="3200" dirty="0">
                <a:solidFill>
                  <a:srgbClr val="FF0000"/>
                </a:solidFill>
              </a:rPr>
              <a:t>data model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 smtClean="0"/>
              <a:t>Shows </a:t>
            </a:r>
            <a:r>
              <a:rPr lang="en-US" sz="2800" dirty="0"/>
              <a:t>the </a:t>
            </a:r>
            <a:r>
              <a:rPr lang="en-US" sz="2800" dirty="0">
                <a:solidFill>
                  <a:srgbClr val="0070C0"/>
                </a:solidFill>
              </a:rPr>
              <a:t>organization of data </a:t>
            </a:r>
            <a:r>
              <a:rPr lang="en-US" sz="2800" dirty="0" smtClean="0">
                <a:solidFill>
                  <a:srgbClr val="0070C0"/>
                </a:solidFill>
              </a:rPr>
              <a:t>without indicating </a:t>
            </a:r>
            <a:r>
              <a:rPr lang="en-US" sz="2800" dirty="0">
                <a:solidFill>
                  <a:srgbClr val="0070C0"/>
                </a:solidFill>
              </a:rPr>
              <a:t>how it is stored, created, </a:t>
            </a:r>
            <a:r>
              <a:rPr lang="en-US" sz="2800" dirty="0" smtClean="0">
                <a:solidFill>
                  <a:srgbClr val="0070C0"/>
                </a:solidFill>
              </a:rPr>
              <a:t>or manipulated</a:t>
            </a:r>
            <a:r>
              <a:rPr lang="en-US" sz="2800" dirty="0" smtClean="0"/>
              <a:t>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4526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Key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>
                <a:solidFill>
                  <a:srgbClr val="FF0000"/>
                </a:solidFill>
              </a:rPr>
              <a:t>Physical data model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 smtClean="0">
                <a:solidFill>
                  <a:schemeClr val="tx1"/>
                </a:solidFill>
              </a:rPr>
              <a:t>Shows </a:t>
            </a:r>
            <a:r>
              <a:rPr lang="en-US" sz="3000" dirty="0">
                <a:solidFill>
                  <a:schemeClr val="tx1"/>
                </a:solidFill>
              </a:rPr>
              <a:t>how the data will actually </a:t>
            </a:r>
            <a:r>
              <a:rPr lang="en-US" sz="3000" dirty="0" smtClean="0">
                <a:solidFill>
                  <a:schemeClr val="tx1"/>
                </a:solidFill>
              </a:rPr>
              <a:t>be stored </a:t>
            </a:r>
            <a:r>
              <a:rPr lang="en-US" sz="3000" dirty="0">
                <a:solidFill>
                  <a:schemeClr val="tx1"/>
                </a:solidFill>
              </a:rPr>
              <a:t>in databases or files.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solidFill>
                  <a:srgbClr val="FF0000"/>
                </a:solidFill>
              </a:rPr>
              <a:t> Normalization </a:t>
            </a:r>
            <a:r>
              <a:rPr lang="en-US" sz="3200" dirty="0">
                <a:solidFill>
                  <a:srgbClr val="FF0000"/>
                </a:solidFill>
              </a:rPr>
              <a:t>is the process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 smtClean="0">
                <a:solidFill>
                  <a:schemeClr val="tx1"/>
                </a:solidFill>
              </a:rPr>
              <a:t>Analysts </a:t>
            </a:r>
            <a:r>
              <a:rPr lang="en-US" sz="3000" dirty="0">
                <a:solidFill>
                  <a:schemeClr val="tx1"/>
                </a:solidFill>
              </a:rPr>
              <a:t>use to validate </a:t>
            </a:r>
            <a:r>
              <a:rPr lang="en-US" sz="3000" dirty="0" smtClean="0">
                <a:solidFill>
                  <a:schemeClr val="tx1"/>
                </a:solidFill>
              </a:rPr>
              <a:t>data models</a:t>
            </a:r>
            <a:r>
              <a:rPr lang="en-US" sz="3000" dirty="0">
                <a:solidFill>
                  <a:schemeClr val="tx1"/>
                </a:solidFill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rgbClr val="0070C0"/>
                </a:solidFill>
              </a:rPr>
              <a:t>Data models should balance </a:t>
            </a:r>
            <a:r>
              <a:rPr lang="en-US" sz="3000" dirty="0" smtClean="0">
                <a:solidFill>
                  <a:srgbClr val="0070C0"/>
                </a:solidFill>
              </a:rPr>
              <a:t>with process models.</a:t>
            </a:r>
            <a:endParaRPr lang="vi-VN" sz="2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27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What Is an ERD?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A </a:t>
            </a:r>
            <a:r>
              <a:rPr lang="en-US" sz="3200" dirty="0"/>
              <a:t>picture showing the </a:t>
            </a:r>
            <a:r>
              <a:rPr lang="en-US" sz="3200" dirty="0" smtClean="0"/>
              <a:t>information created</a:t>
            </a:r>
            <a:r>
              <a:rPr lang="en-US" sz="3200" dirty="0"/>
              <a:t>, stored, and used by a </a:t>
            </a:r>
            <a:r>
              <a:rPr lang="en-US" sz="3200" dirty="0" smtClean="0"/>
              <a:t>business system</a:t>
            </a:r>
            <a:r>
              <a:rPr lang="en-US" sz="32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Entities </a:t>
            </a:r>
            <a:r>
              <a:rPr lang="en-US" sz="3200" dirty="0"/>
              <a:t>generally represent similar </a:t>
            </a:r>
            <a:r>
              <a:rPr lang="en-US" sz="3200" dirty="0" smtClean="0"/>
              <a:t>kinds of information.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Lines </a:t>
            </a:r>
            <a:r>
              <a:rPr lang="en-US" sz="3200" dirty="0"/>
              <a:t>drawn between entities </a:t>
            </a:r>
            <a:r>
              <a:rPr lang="en-US" sz="3200" dirty="0" smtClean="0"/>
              <a:t>show relationships </a:t>
            </a:r>
            <a:r>
              <a:rPr lang="en-US" sz="3200" dirty="0"/>
              <a:t>among the </a:t>
            </a:r>
            <a:r>
              <a:rPr lang="en-US" sz="3200" dirty="0" smtClean="0"/>
              <a:t>data.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solidFill>
                  <a:srgbClr val="FF0000"/>
                </a:solidFill>
              </a:rPr>
              <a:t> High </a:t>
            </a:r>
            <a:r>
              <a:rPr lang="en-US" sz="3200" dirty="0">
                <a:solidFill>
                  <a:srgbClr val="FF0000"/>
                </a:solidFill>
              </a:rPr>
              <a:t>level business rules</a:t>
            </a:r>
            <a:r>
              <a:rPr lang="en-US" sz="3200" dirty="0"/>
              <a:t> are also </a:t>
            </a:r>
            <a:r>
              <a:rPr lang="en-US" sz="3200" dirty="0" smtClean="0"/>
              <a:t>shown.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674078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ERD to Show Business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0000"/>
                </a:solidFill>
              </a:rPr>
              <a:t>Business rules</a:t>
            </a:r>
            <a:r>
              <a:rPr lang="en-US" sz="3200" dirty="0"/>
              <a:t> are </a:t>
            </a:r>
            <a:r>
              <a:rPr lang="en-US" sz="3200" dirty="0">
                <a:solidFill>
                  <a:srgbClr val="FF0000"/>
                </a:solidFill>
              </a:rPr>
              <a:t>constraints</a:t>
            </a:r>
            <a:r>
              <a:rPr lang="en-US" sz="3200" dirty="0"/>
              <a:t> </a:t>
            </a:r>
            <a:r>
              <a:rPr lang="en-US" sz="3200" dirty="0" smtClean="0"/>
              <a:t>that are </a:t>
            </a:r>
            <a:r>
              <a:rPr lang="en-US" sz="3200" dirty="0"/>
              <a:t>followed when the system is </a:t>
            </a:r>
            <a:r>
              <a:rPr lang="en-US" sz="3200" dirty="0" smtClean="0"/>
              <a:t>in operation</a:t>
            </a:r>
            <a:r>
              <a:rPr lang="en-US" sz="32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ERD symbols can show when </a:t>
            </a:r>
            <a:r>
              <a:rPr lang="en-US" sz="3200" dirty="0" smtClean="0"/>
              <a:t>one instance </a:t>
            </a:r>
            <a:r>
              <a:rPr lang="en-US" sz="3200" dirty="0"/>
              <a:t>of an entity must exist </a:t>
            </a:r>
            <a:r>
              <a:rPr lang="en-US" sz="3200" dirty="0" smtClean="0"/>
              <a:t>for an </a:t>
            </a:r>
            <a:r>
              <a:rPr lang="en-US" sz="3200" dirty="0"/>
              <a:t>instance of another to </a:t>
            </a:r>
            <a:r>
              <a:rPr lang="en-US" sz="3200" dirty="0" smtClean="0"/>
              <a:t>exist.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 doctor must exist before appointments </a:t>
            </a:r>
            <a:r>
              <a:rPr lang="en-US" sz="3000" dirty="0" smtClean="0"/>
              <a:t>for the </a:t>
            </a:r>
            <a:r>
              <a:rPr lang="en-US" sz="3000" dirty="0"/>
              <a:t>doctor can be </a:t>
            </a:r>
            <a:r>
              <a:rPr lang="en-US" sz="3000" dirty="0" smtClean="0"/>
              <a:t>made.</a:t>
            </a:r>
            <a:endParaRPr lang="vi-VN" sz="3000" dirty="0"/>
          </a:p>
        </p:txBody>
      </p:sp>
    </p:spTree>
    <p:extLst>
      <p:ext uri="{BB962C8B-B14F-4D97-AF65-F5344CB8AC3E}">
        <p14:creationId xmlns:p14="http://schemas.microsoft.com/office/powerpoint/2010/main" val="812482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ERD to Show Business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ERD symbols can show when </a:t>
            </a:r>
            <a:r>
              <a:rPr lang="en-US" sz="3200" dirty="0">
                <a:solidFill>
                  <a:srgbClr val="FF0000"/>
                </a:solidFill>
              </a:rPr>
              <a:t>one instance of </a:t>
            </a:r>
            <a:r>
              <a:rPr lang="en-US" sz="3200" dirty="0" smtClean="0">
                <a:solidFill>
                  <a:srgbClr val="FF0000"/>
                </a:solidFill>
              </a:rPr>
              <a:t>an entity </a:t>
            </a:r>
            <a:r>
              <a:rPr lang="en-US" sz="3200" dirty="0">
                <a:solidFill>
                  <a:srgbClr val="FF0000"/>
                </a:solidFill>
              </a:rPr>
              <a:t>can be related to only one or </a:t>
            </a:r>
            <a:r>
              <a:rPr lang="en-US" sz="3200" dirty="0" smtClean="0">
                <a:solidFill>
                  <a:srgbClr val="FF0000"/>
                </a:solidFill>
              </a:rPr>
              <a:t>many instances of </a:t>
            </a:r>
            <a:r>
              <a:rPr lang="en-US" sz="3200" dirty="0">
                <a:solidFill>
                  <a:srgbClr val="FF0000"/>
                </a:solidFill>
              </a:rPr>
              <a:t>another </a:t>
            </a:r>
            <a:r>
              <a:rPr lang="en-US" sz="3200" dirty="0" smtClean="0">
                <a:solidFill>
                  <a:srgbClr val="FF0000"/>
                </a:solidFill>
              </a:rPr>
              <a:t>entity</a:t>
            </a:r>
            <a:r>
              <a:rPr lang="en-US" sz="3200" dirty="0" smtClean="0"/>
              <a:t>.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One doctor can have many patients; </a:t>
            </a:r>
            <a:r>
              <a:rPr lang="en-US" sz="3000" dirty="0" smtClean="0"/>
              <a:t>each patient </a:t>
            </a:r>
            <a:r>
              <a:rPr lang="en-US" sz="3000" dirty="0"/>
              <a:t>may have only one primary </a:t>
            </a:r>
            <a:r>
              <a:rPr lang="en-US" sz="3000" dirty="0" smtClean="0"/>
              <a:t>doctor.</a:t>
            </a:r>
            <a:endParaRPr lang="en-US" sz="3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ERD </a:t>
            </a:r>
            <a:r>
              <a:rPr lang="en-US" sz="3200" dirty="0"/>
              <a:t>symbols show when the </a:t>
            </a:r>
            <a:r>
              <a:rPr lang="en-US" sz="3200" dirty="0">
                <a:solidFill>
                  <a:srgbClr val="FF0000"/>
                </a:solidFill>
              </a:rPr>
              <a:t>existence of </a:t>
            </a:r>
            <a:r>
              <a:rPr lang="en-US" sz="3200" dirty="0" smtClean="0">
                <a:solidFill>
                  <a:srgbClr val="FF0000"/>
                </a:solidFill>
              </a:rPr>
              <a:t>an entity </a:t>
            </a:r>
            <a:r>
              <a:rPr lang="en-US" sz="3200" dirty="0">
                <a:solidFill>
                  <a:srgbClr val="FF0000"/>
                </a:solidFill>
              </a:rPr>
              <a:t>instance is optional for a related </a:t>
            </a:r>
            <a:r>
              <a:rPr lang="en-US" sz="3200" dirty="0" smtClean="0">
                <a:solidFill>
                  <a:srgbClr val="FF0000"/>
                </a:solidFill>
              </a:rPr>
              <a:t>entity instance</a:t>
            </a:r>
            <a:r>
              <a:rPr lang="en-US" sz="3200" dirty="0" smtClean="0"/>
              <a:t>.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 patient may or may not have </a:t>
            </a:r>
            <a:r>
              <a:rPr lang="en-US" sz="3000" dirty="0" smtClean="0"/>
              <a:t>insurance coverage.</a:t>
            </a:r>
            <a:endParaRPr lang="vi-VN" sz="3000" dirty="0"/>
          </a:p>
        </p:txBody>
      </p:sp>
    </p:spTree>
    <p:extLst>
      <p:ext uri="{BB962C8B-B14F-4D97-AF65-F5344CB8AC3E}">
        <p14:creationId xmlns:p14="http://schemas.microsoft.com/office/powerpoint/2010/main" val="414751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An ERD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114" y="1845734"/>
            <a:ext cx="8678732" cy="447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ERD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177" y="0"/>
            <a:ext cx="6884894" cy="664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577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person, place, event, or thing about which </a:t>
            </a:r>
            <a:r>
              <a:rPr lang="en-US" sz="3200" dirty="0" smtClean="0"/>
              <a:t>data is collected.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Must be </a:t>
            </a:r>
            <a:r>
              <a:rPr lang="en-US" sz="3200" dirty="0">
                <a:solidFill>
                  <a:srgbClr val="FF0000"/>
                </a:solidFill>
              </a:rPr>
              <a:t>multiple occurrences</a:t>
            </a:r>
            <a:r>
              <a:rPr lang="en-US" sz="3200" dirty="0"/>
              <a:t> to be an </a:t>
            </a:r>
            <a:r>
              <a:rPr lang="en-US" sz="3200" dirty="0" smtClean="0"/>
              <a:t>entity.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Example: If a firm has only one warehouse, </a:t>
            </a:r>
            <a:r>
              <a:rPr lang="en-US" sz="3000" dirty="0" smtClean="0"/>
              <a:t>the warehouse </a:t>
            </a:r>
            <a:r>
              <a:rPr lang="en-US" sz="3000" dirty="0"/>
              <a:t>is not an entity. However, if the </a:t>
            </a:r>
            <a:r>
              <a:rPr lang="en-US" sz="3000" dirty="0" smtClean="0"/>
              <a:t>firm has </a:t>
            </a:r>
            <a:r>
              <a:rPr lang="en-US" sz="3000" dirty="0"/>
              <a:t>several warehouses, the warehouse </a:t>
            </a:r>
            <a:r>
              <a:rPr lang="en-US" sz="3000" dirty="0" smtClean="0"/>
              <a:t>could be </a:t>
            </a:r>
            <a:r>
              <a:rPr lang="en-US" sz="3000" dirty="0"/>
              <a:t>an entity if the firm wants to store data </a:t>
            </a:r>
            <a:r>
              <a:rPr lang="en-US" sz="3000" dirty="0" smtClean="0"/>
              <a:t>about each </a:t>
            </a:r>
            <a:r>
              <a:rPr lang="en-US" sz="3000" dirty="0"/>
              <a:t>warehouse instance.</a:t>
            </a:r>
            <a:endParaRPr lang="vi-VN" sz="3000" dirty="0"/>
          </a:p>
        </p:txBody>
      </p:sp>
    </p:spTree>
    <p:extLst>
      <p:ext uri="{BB962C8B-B14F-4D97-AF65-F5344CB8AC3E}">
        <p14:creationId xmlns:p14="http://schemas.microsoft.com/office/powerpoint/2010/main" val="257364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Entities and 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447" y="2066714"/>
            <a:ext cx="6604894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71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Information captured about an </a:t>
            </a:r>
            <a:r>
              <a:rPr lang="en-US" sz="3200" dirty="0" smtClean="0"/>
              <a:t>entity.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0000"/>
                </a:solidFill>
              </a:rPr>
              <a:t>Only those used by the </a:t>
            </a:r>
            <a:r>
              <a:rPr lang="en-US" sz="3200" dirty="0" smtClean="0">
                <a:solidFill>
                  <a:srgbClr val="FF0000"/>
                </a:solidFill>
              </a:rPr>
              <a:t>organization</a:t>
            </a:r>
            <a:r>
              <a:rPr lang="en-US" sz="3200" dirty="0" smtClean="0"/>
              <a:t> should </a:t>
            </a:r>
            <a:r>
              <a:rPr lang="en-US" sz="3200" dirty="0"/>
              <a:t>be included in the </a:t>
            </a:r>
            <a:r>
              <a:rPr lang="en-US" sz="3200" dirty="0" smtClean="0"/>
              <a:t>model.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Attribute </a:t>
            </a:r>
            <a:r>
              <a:rPr lang="en-US" sz="3200" dirty="0"/>
              <a:t>names are </a:t>
            </a:r>
            <a:r>
              <a:rPr lang="en-US" sz="3200" dirty="0" smtClean="0">
                <a:solidFill>
                  <a:srgbClr val="FF0000"/>
                </a:solidFill>
              </a:rPr>
              <a:t>nouns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Sometimes </a:t>
            </a:r>
            <a:r>
              <a:rPr lang="en-US" sz="3200" dirty="0">
                <a:solidFill>
                  <a:srgbClr val="FF0000"/>
                </a:solidFill>
              </a:rPr>
              <a:t>entity name is added </a:t>
            </a:r>
            <a:r>
              <a:rPr lang="en-US" sz="3200" dirty="0" smtClean="0">
                <a:solidFill>
                  <a:srgbClr val="FF0000"/>
                </a:solidFill>
              </a:rPr>
              <a:t>at the </a:t>
            </a:r>
            <a:r>
              <a:rPr lang="en-US" sz="3200" dirty="0">
                <a:solidFill>
                  <a:srgbClr val="FF0000"/>
                </a:solidFill>
              </a:rPr>
              <a:t>beginning</a:t>
            </a:r>
            <a:r>
              <a:rPr lang="en-US" sz="3200" dirty="0"/>
              <a:t> of the attribute </a:t>
            </a:r>
            <a:r>
              <a:rPr lang="en-US" sz="3200" dirty="0" smtClean="0"/>
              <a:t>name for clarity.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75330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0000"/>
                </a:solidFill>
              </a:rPr>
              <a:t>One or more attributes</a:t>
            </a:r>
            <a:r>
              <a:rPr lang="en-US" sz="3200" dirty="0"/>
              <a:t> can serve as </a:t>
            </a:r>
            <a:r>
              <a:rPr lang="en-US" sz="3200" dirty="0" smtClean="0"/>
              <a:t>the entity </a:t>
            </a:r>
            <a:r>
              <a:rPr lang="en-US" sz="3200" dirty="0"/>
              <a:t>identifier, uniquely identifying </a:t>
            </a:r>
            <a:r>
              <a:rPr lang="en-US" sz="3200" dirty="0" smtClean="0"/>
              <a:t>each entity instance.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0000"/>
                </a:solidFill>
              </a:rPr>
              <a:t>Concatenated identifier</a:t>
            </a:r>
            <a:r>
              <a:rPr lang="en-US" sz="3200" dirty="0"/>
              <a:t> consists </a:t>
            </a:r>
            <a:r>
              <a:rPr lang="en-US" sz="3200" dirty="0" smtClean="0"/>
              <a:t>of several attributes.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An identifier may be ‘</a:t>
            </a:r>
            <a:r>
              <a:rPr lang="en-US" sz="3200" dirty="0" smtClean="0">
                <a:solidFill>
                  <a:srgbClr val="FF0000"/>
                </a:solidFill>
              </a:rPr>
              <a:t>artificial</a:t>
            </a:r>
            <a:r>
              <a:rPr lang="en-US" sz="3200" dirty="0" smtClean="0"/>
              <a:t>’, </a:t>
            </a:r>
            <a:r>
              <a:rPr lang="en-US" sz="3200" dirty="0"/>
              <a:t>such </a:t>
            </a:r>
            <a:r>
              <a:rPr lang="en-US" sz="3200" dirty="0" smtClean="0"/>
              <a:t>as creating </a:t>
            </a:r>
            <a:r>
              <a:rPr lang="en-US" sz="3200" dirty="0"/>
              <a:t>an ID </a:t>
            </a:r>
            <a:r>
              <a:rPr lang="en-US" sz="3200" dirty="0" smtClean="0"/>
              <a:t>number.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Identifiers may not be developed until </a:t>
            </a:r>
            <a:r>
              <a:rPr lang="en-US" sz="3200" dirty="0" smtClean="0"/>
              <a:t>the Design Phase.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709261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Choices for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862" y="2126886"/>
            <a:ext cx="7883235" cy="399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15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Generalization - Specialization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FF0000"/>
                </a:solidFill>
              </a:rPr>
              <a:t>Generalization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It </a:t>
            </a:r>
            <a:r>
              <a:rPr lang="en-US" sz="2400" dirty="0"/>
              <a:t>is a </a:t>
            </a:r>
            <a:r>
              <a:rPr lang="en-US" sz="2400" dirty="0">
                <a:solidFill>
                  <a:srgbClr val="0070C0"/>
                </a:solidFill>
              </a:rPr>
              <a:t>bottom-up approach</a:t>
            </a:r>
            <a:r>
              <a:rPr lang="en-US" sz="2400" dirty="0"/>
              <a:t> in which </a:t>
            </a:r>
            <a:r>
              <a:rPr lang="en-US" sz="2400" dirty="0">
                <a:solidFill>
                  <a:srgbClr val="0070C0"/>
                </a:solidFill>
              </a:rPr>
              <a:t>two or more entities can be generalized to a higher level entity</a:t>
            </a:r>
            <a:r>
              <a:rPr lang="en-US" sz="2400" dirty="0"/>
              <a:t> if they </a:t>
            </a:r>
            <a:r>
              <a:rPr lang="en-US" sz="2400" dirty="0">
                <a:solidFill>
                  <a:srgbClr val="0070C0"/>
                </a:solidFill>
              </a:rPr>
              <a:t>have some attributes in common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For </a:t>
            </a:r>
            <a:r>
              <a:rPr lang="en-US" sz="2400" dirty="0"/>
              <a:t>Example, STUDENT and FACULTY can be generalized to a higher level entity called </a:t>
            </a:r>
            <a:r>
              <a:rPr lang="en-US" sz="2400" dirty="0" smtClean="0"/>
              <a:t>PERSON.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FF0000"/>
                </a:solidFill>
              </a:rPr>
              <a:t>Specialization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It </a:t>
            </a:r>
            <a:r>
              <a:rPr lang="en-US" sz="2400" dirty="0"/>
              <a:t>is a </a:t>
            </a:r>
            <a:r>
              <a:rPr lang="en-US" sz="2400" dirty="0">
                <a:solidFill>
                  <a:srgbClr val="0070C0"/>
                </a:solidFill>
              </a:rPr>
              <a:t>top-down approac</a:t>
            </a:r>
            <a:r>
              <a:rPr lang="en-US" sz="2400" dirty="0"/>
              <a:t>h where </a:t>
            </a:r>
            <a:r>
              <a:rPr lang="en-US" sz="2400" dirty="0">
                <a:solidFill>
                  <a:srgbClr val="0070C0"/>
                </a:solidFill>
              </a:rPr>
              <a:t>higher level entity is specialized into two or more lower level entities</a:t>
            </a:r>
            <a:r>
              <a:rPr lang="en-US" sz="2400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For </a:t>
            </a:r>
            <a:r>
              <a:rPr lang="en-US" sz="2400" dirty="0"/>
              <a:t>Example, EMPLOYEE entity in an Employee management system can be specialized into DEVELOPER, TESTER etc. 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1033770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1026" name="Picture 2" descr="img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502" y="542097"/>
            <a:ext cx="6567955" cy="5749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894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2050" name="Picture 2" descr="im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955" y="716908"/>
            <a:ext cx="5353050" cy="536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0042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0000"/>
                </a:solidFill>
              </a:rPr>
              <a:t>Associations</a:t>
            </a:r>
            <a:r>
              <a:rPr lang="en-US" sz="3200" dirty="0"/>
              <a:t> between </a:t>
            </a:r>
            <a:r>
              <a:rPr lang="en-US" sz="3200" dirty="0" smtClean="0"/>
              <a:t>entities.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first entity in the relationship </a:t>
            </a:r>
            <a:r>
              <a:rPr lang="en-US" sz="3200" dirty="0" smtClean="0"/>
              <a:t>is the </a:t>
            </a:r>
            <a:r>
              <a:rPr lang="en-US" sz="3200" dirty="0"/>
              <a:t>parent entity; the second entity </a:t>
            </a:r>
            <a:r>
              <a:rPr lang="en-US" sz="3200" dirty="0" smtClean="0"/>
              <a:t>in the </a:t>
            </a:r>
            <a:r>
              <a:rPr lang="en-US" sz="3200" dirty="0"/>
              <a:t>relationship is the child </a:t>
            </a:r>
            <a:r>
              <a:rPr lang="en-US" sz="3200" dirty="0" smtClean="0"/>
              <a:t>entity.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Relationships </a:t>
            </a:r>
            <a:r>
              <a:rPr lang="en-US" sz="3200" dirty="0"/>
              <a:t>should have </a:t>
            </a:r>
            <a:r>
              <a:rPr lang="en-US" sz="3200" dirty="0" smtClean="0">
                <a:solidFill>
                  <a:srgbClr val="FF0000"/>
                </a:solidFill>
              </a:rPr>
              <a:t>active verb names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Relationships </a:t>
            </a:r>
            <a:r>
              <a:rPr lang="en-US" sz="3200" dirty="0">
                <a:solidFill>
                  <a:srgbClr val="FF0000"/>
                </a:solidFill>
              </a:rPr>
              <a:t>go in both </a:t>
            </a:r>
            <a:r>
              <a:rPr lang="en-US" sz="3200" dirty="0" smtClean="0">
                <a:solidFill>
                  <a:srgbClr val="FF0000"/>
                </a:solidFill>
              </a:rPr>
              <a:t>directions</a:t>
            </a:r>
            <a:r>
              <a:rPr lang="en-US" sz="3200" dirty="0" smtClean="0"/>
              <a:t>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4170812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Cardinality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Refers </a:t>
            </a:r>
            <a:r>
              <a:rPr lang="en-US" sz="3200" dirty="0"/>
              <a:t>to the </a:t>
            </a:r>
            <a:r>
              <a:rPr lang="en-US" sz="3200" dirty="0">
                <a:solidFill>
                  <a:srgbClr val="FF0000"/>
                </a:solidFill>
              </a:rPr>
              <a:t>number of times </a:t>
            </a:r>
            <a:r>
              <a:rPr lang="en-US" sz="3200" dirty="0" smtClean="0">
                <a:solidFill>
                  <a:srgbClr val="FF0000"/>
                </a:solidFill>
              </a:rPr>
              <a:t>instances in </a:t>
            </a:r>
            <a:r>
              <a:rPr lang="en-US" sz="3200" dirty="0">
                <a:solidFill>
                  <a:srgbClr val="FF0000"/>
                </a:solidFill>
              </a:rPr>
              <a:t>one entity can be related </a:t>
            </a:r>
            <a:r>
              <a:rPr lang="en-US" sz="3200" dirty="0" smtClean="0">
                <a:solidFill>
                  <a:srgbClr val="FF0000"/>
                </a:solidFill>
              </a:rPr>
              <a:t>to instances </a:t>
            </a:r>
            <a:r>
              <a:rPr lang="en-US" sz="3200" dirty="0">
                <a:solidFill>
                  <a:srgbClr val="FF0000"/>
                </a:solidFill>
              </a:rPr>
              <a:t>in another </a:t>
            </a:r>
            <a:r>
              <a:rPr lang="en-US" sz="3200" dirty="0" smtClean="0">
                <a:solidFill>
                  <a:srgbClr val="FF0000"/>
                </a:solidFill>
              </a:rPr>
              <a:t>entity</a:t>
            </a:r>
            <a:r>
              <a:rPr lang="en-US" sz="3200" dirty="0" smtClean="0"/>
              <a:t>.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 smtClean="0"/>
              <a:t>One </a:t>
            </a:r>
            <a:r>
              <a:rPr lang="en-US" sz="2800" dirty="0"/>
              <a:t>instance in an entity refers to one and </a:t>
            </a:r>
            <a:r>
              <a:rPr lang="en-US" sz="2800" dirty="0" smtClean="0"/>
              <a:t>only one </a:t>
            </a:r>
            <a:r>
              <a:rPr lang="en-US" sz="2800" dirty="0"/>
              <a:t>instance in the related entity (1:1</a:t>
            </a:r>
            <a:r>
              <a:rPr lang="en-US" sz="2800" dirty="0" smtClean="0"/>
              <a:t>).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One instance in an entity refers to one or </a:t>
            </a:r>
            <a:r>
              <a:rPr lang="en-US" sz="2800" dirty="0" smtClean="0"/>
              <a:t>more instances </a:t>
            </a:r>
            <a:r>
              <a:rPr lang="en-US" sz="2800" dirty="0"/>
              <a:t>in the related entity (1:N</a:t>
            </a:r>
            <a:r>
              <a:rPr lang="en-US" sz="2800" dirty="0" smtClean="0"/>
              <a:t>).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One or more instances in an entity refer to one </a:t>
            </a:r>
            <a:r>
              <a:rPr lang="en-US" sz="2800" dirty="0" smtClean="0"/>
              <a:t>or more </a:t>
            </a:r>
            <a:r>
              <a:rPr lang="en-US" sz="2800" dirty="0"/>
              <a:t>instances in the related entity (M:N</a:t>
            </a:r>
            <a:r>
              <a:rPr lang="en-US" sz="2800" dirty="0" smtClean="0"/>
              <a:t>).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288023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2" descr="http://science.kennesaw.edu/~bsetzer/3310fa10/build/notes/supplement/Chapter05/Fig5-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209" y="501756"/>
            <a:ext cx="6212542" cy="617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53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Modality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Refers to </a:t>
            </a:r>
            <a:r>
              <a:rPr lang="en-US" sz="3200" dirty="0">
                <a:solidFill>
                  <a:srgbClr val="FF0000"/>
                </a:solidFill>
              </a:rPr>
              <a:t>whether or not an instance </a:t>
            </a:r>
            <a:r>
              <a:rPr lang="en-US" sz="3200" dirty="0" smtClean="0">
                <a:solidFill>
                  <a:srgbClr val="FF0000"/>
                </a:solidFill>
              </a:rPr>
              <a:t>of a </a:t>
            </a:r>
            <a:r>
              <a:rPr lang="en-US" sz="3200" dirty="0">
                <a:solidFill>
                  <a:srgbClr val="FF0000"/>
                </a:solidFill>
              </a:rPr>
              <a:t>child entity can exist without a </a:t>
            </a:r>
            <a:r>
              <a:rPr lang="en-US" sz="3200" dirty="0" smtClean="0">
                <a:solidFill>
                  <a:srgbClr val="FF0000"/>
                </a:solidFill>
              </a:rPr>
              <a:t>related instance </a:t>
            </a:r>
            <a:r>
              <a:rPr lang="en-US" sz="3200" dirty="0">
                <a:solidFill>
                  <a:srgbClr val="FF0000"/>
                </a:solidFill>
              </a:rPr>
              <a:t>in the parent </a:t>
            </a:r>
            <a:r>
              <a:rPr lang="en-US" sz="3200" dirty="0" smtClean="0">
                <a:solidFill>
                  <a:srgbClr val="FF0000"/>
                </a:solidFill>
              </a:rPr>
              <a:t>entity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Not </a:t>
            </a:r>
            <a:r>
              <a:rPr lang="en-US" sz="3200" dirty="0"/>
              <a:t>Null means that an instance in the </a:t>
            </a:r>
            <a:r>
              <a:rPr lang="en-US" sz="3200" dirty="0" smtClean="0"/>
              <a:t>related entity </a:t>
            </a:r>
            <a:r>
              <a:rPr lang="en-US" sz="3200" dirty="0"/>
              <a:t>must exist for an instance in another </a:t>
            </a:r>
            <a:r>
              <a:rPr lang="en-US" sz="3200" dirty="0" smtClean="0"/>
              <a:t>entity to </a:t>
            </a:r>
            <a:r>
              <a:rPr lang="en-US" sz="3200" dirty="0"/>
              <a:t>be </a:t>
            </a:r>
            <a:r>
              <a:rPr lang="en-US" sz="3200" dirty="0" smtClean="0"/>
              <a:t>valid.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Null means that no instance in the related </a:t>
            </a:r>
            <a:r>
              <a:rPr lang="en-US" sz="3200" dirty="0" smtClean="0"/>
              <a:t>entity is </a:t>
            </a:r>
            <a:r>
              <a:rPr lang="en-US" sz="3200" dirty="0"/>
              <a:t>necessary for an instance in another entity </a:t>
            </a:r>
            <a:r>
              <a:rPr lang="en-US" sz="3200" dirty="0" smtClean="0"/>
              <a:t>to be valid.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4211744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998545"/>
            <a:ext cx="10160232" cy="171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2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632" y="2071218"/>
            <a:ext cx="8001696" cy="357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5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098" name="Picture 2" descr="Káº¿t quáº£ hÃ¬nh áº£nh cho erd relationship one to 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579" y="1535852"/>
            <a:ext cx="5209801" cy="4643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91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Recursive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It’s a </a:t>
            </a:r>
            <a:r>
              <a:rPr lang="en-US" sz="3200" dirty="0">
                <a:solidFill>
                  <a:srgbClr val="FF0000"/>
                </a:solidFill>
              </a:rPr>
              <a:t>relationship with the </a:t>
            </a:r>
            <a:r>
              <a:rPr lang="en-US" sz="3200" dirty="0" smtClean="0">
                <a:solidFill>
                  <a:srgbClr val="FF0000"/>
                </a:solidFill>
              </a:rPr>
              <a:t>same </a:t>
            </a:r>
            <a:r>
              <a:rPr lang="en-US" sz="3200" dirty="0">
                <a:solidFill>
                  <a:srgbClr val="FF0000"/>
                </a:solidFill>
              </a:rPr>
              <a:t>entity</a:t>
            </a:r>
            <a:r>
              <a:rPr lang="en-US" sz="3200" dirty="0"/>
              <a:t>. </a:t>
            </a:r>
            <a:endParaRPr lang="en-US" sz="32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 smtClean="0"/>
              <a:t>For </a:t>
            </a:r>
            <a:r>
              <a:rPr lang="en-US" sz="2800" dirty="0"/>
              <a:t>example, an employee may act as a supervisor for one or more employees, while an employee may be supervised by an employee (it’s one-to-many relationship).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2995206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122" name="Picture 2" descr="Káº¿t quáº£ hÃ¬nh áº£nh cho one entity relationshi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040" y="1845734"/>
            <a:ext cx="8922879" cy="385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0062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Weak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weak entity is simply </a:t>
            </a:r>
            <a:r>
              <a:rPr lang="en-US" sz="2800" dirty="0">
                <a:solidFill>
                  <a:srgbClr val="FF0000"/>
                </a:solidFill>
              </a:rPr>
              <a:t>an entity where it’s existence depends on another entity</a:t>
            </a:r>
            <a:r>
              <a:rPr lang="en-US" sz="2800" dirty="0"/>
              <a:t>. </a:t>
            </a:r>
            <a:endParaRPr lang="en-US" sz="2800" dirty="0" smtClean="0"/>
          </a:p>
          <a:p>
            <a:r>
              <a:rPr lang="en-US" sz="2800" dirty="0"/>
              <a:t>A weak entity has what’s called a “partial key”. It’s one or more attributes that uniquely identify a weak entity for a given owner entity</a:t>
            </a:r>
            <a:r>
              <a:rPr lang="en-US" sz="2800" dirty="0" smtClean="0"/>
              <a:t>.</a:t>
            </a:r>
          </a:p>
          <a:p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7418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443533"/>
            <a:ext cx="10284904" cy="82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2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 relationship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Relationship </a:t>
            </a:r>
            <a:r>
              <a:rPr lang="en-US" sz="3200" dirty="0" smtClean="0">
                <a:solidFill>
                  <a:srgbClr val="FF0000"/>
                </a:solidFill>
              </a:rPr>
              <a:t>can have attributes</a:t>
            </a:r>
            <a:r>
              <a:rPr lang="en-US" sz="3200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Weak entity is used</a:t>
            </a:r>
            <a:r>
              <a:rPr lang="en-US" sz="3200" dirty="0" smtClean="0"/>
              <a:t> to represent attribute relationship.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490649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68" y="1011981"/>
            <a:ext cx="4709024" cy="521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25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180" y="2223876"/>
            <a:ext cx="861060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7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Weak entity is also used to represent n-</a:t>
            </a:r>
            <a:r>
              <a:rPr lang="en-US" sz="2800" dirty="0" err="1" smtClean="0"/>
              <a:t>ary</a:t>
            </a:r>
            <a:r>
              <a:rPr lang="en-US" sz="2800" dirty="0" smtClean="0"/>
              <a:t> relationship.</a:t>
            </a:r>
            <a:endParaRPr lang="vi-VN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636" y="2925541"/>
            <a:ext cx="9659688" cy="249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9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284" y="2608729"/>
            <a:ext cx="11604810" cy="102466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 ER Diagram to Relational model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75359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cs typeface="Times New Roman" panose="02020603050405020304" pitchFamily="18" charset="0"/>
              </a:rPr>
              <a:t>Mapping (regular/strong) entity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For </a:t>
            </a:r>
            <a:r>
              <a:rPr lang="en-US" sz="2800" dirty="0"/>
              <a:t>each strong entity set create a new relational independent table that includes all attributes as column. </a:t>
            </a:r>
            <a:endParaRPr lang="vi-VN" sz="2800" dirty="0"/>
          </a:p>
        </p:txBody>
      </p:sp>
      <p:pic>
        <p:nvPicPr>
          <p:cNvPr id="1026" name="Picture 2" descr="databases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728" y="3562767"/>
            <a:ext cx="3933825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617897" y="3963889"/>
            <a:ext cx="4711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815E38"/>
                </a:solidFill>
                <a:latin typeface="Arial" panose="020B0604020202020204" pitchFamily="34" charset="0"/>
              </a:rPr>
              <a:t>Persons( </a:t>
            </a:r>
            <a:r>
              <a:rPr lang="en-US" u="sng" dirty="0" err="1">
                <a:solidFill>
                  <a:srgbClr val="815E38"/>
                </a:solidFill>
                <a:latin typeface="Arial" panose="020B0604020202020204" pitchFamily="34" charset="0"/>
              </a:rPr>
              <a:t>personid</a:t>
            </a:r>
            <a:r>
              <a:rPr lang="en-US" dirty="0">
                <a:solidFill>
                  <a:srgbClr val="815E38"/>
                </a:solidFill>
                <a:latin typeface="Arial" panose="020B0604020202020204" pitchFamily="34" charset="0"/>
              </a:rPr>
              <a:t> , name, </a:t>
            </a:r>
            <a:r>
              <a:rPr lang="en-US" dirty="0" err="1">
                <a:solidFill>
                  <a:srgbClr val="815E38"/>
                </a:solidFill>
                <a:latin typeface="Arial" panose="020B0604020202020204" pitchFamily="34" charset="0"/>
              </a:rPr>
              <a:t>lastname</a:t>
            </a:r>
            <a:r>
              <a:rPr lang="en-US" dirty="0">
                <a:solidFill>
                  <a:srgbClr val="815E38"/>
                </a:solidFill>
                <a:latin typeface="Arial" panose="020B0604020202020204" pitchFamily="34" charset="0"/>
              </a:rPr>
              <a:t>, email 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81661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Converting Generalization Hierarchies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225144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Convert </a:t>
            </a:r>
            <a:r>
              <a:rPr lang="en-US" sz="3200" dirty="0">
                <a:solidFill>
                  <a:srgbClr val="FF0000"/>
                </a:solidFill>
              </a:rPr>
              <a:t>each </a:t>
            </a:r>
            <a:r>
              <a:rPr lang="en-US" sz="3200" dirty="0" smtClean="0">
                <a:solidFill>
                  <a:srgbClr val="FF0000"/>
                </a:solidFill>
              </a:rPr>
              <a:t>entity </a:t>
            </a:r>
            <a:r>
              <a:rPr lang="en-US" sz="3200" dirty="0">
                <a:solidFill>
                  <a:srgbClr val="FF0000"/>
                </a:solidFill>
              </a:rPr>
              <a:t>of a generalization hierarchy into a table</a:t>
            </a:r>
            <a:r>
              <a:rPr lang="en-US" sz="3200" dirty="0"/>
              <a:t>. </a:t>
            </a:r>
            <a:endParaRPr lang="en-US" sz="32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The </a:t>
            </a:r>
            <a:r>
              <a:rPr lang="en-US" sz="3200" dirty="0"/>
              <a:t>only column appearing that are different from </a:t>
            </a:r>
            <a:r>
              <a:rPr lang="en-US" sz="3200" dirty="0" smtClean="0"/>
              <a:t>attributes </a:t>
            </a:r>
            <a:r>
              <a:rPr lang="en-US" sz="3200" dirty="0"/>
              <a:t>in the associated ERD is the inherited </a:t>
            </a:r>
            <a:r>
              <a:rPr lang="en-US" sz="3200" dirty="0" smtClean="0"/>
              <a:t>Primary Key.</a:t>
            </a:r>
            <a:endParaRPr lang="vi-VN" sz="3200" dirty="0"/>
          </a:p>
        </p:txBody>
      </p:sp>
      <p:pic>
        <p:nvPicPr>
          <p:cNvPr id="2050" name="Picture 2" descr="Step-by-step on database modeling using ERD on MySQL database screensho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4051051"/>
            <a:ext cx="47529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602506" y="4208929"/>
            <a:ext cx="33613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Employee (</a:t>
            </a:r>
            <a:r>
              <a:rPr lang="en-US" b="1" dirty="0" err="1" smtClean="0"/>
              <a:t>EmpNo</a:t>
            </a:r>
            <a:r>
              <a:rPr lang="en-US" dirty="0" smtClean="0"/>
              <a:t>, </a:t>
            </a:r>
            <a:r>
              <a:rPr lang="en-US" dirty="0" err="1" smtClean="0"/>
              <a:t>EmpHireDate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SalaryEmp</a:t>
            </a:r>
            <a:r>
              <a:rPr lang="en-US" dirty="0" smtClean="0"/>
              <a:t> (</a:t>
            </a:r>
            <a:r>
              <a:rPr lang="en-US" b="1" i="1" dirty="0" err="1" smtClean="0"/>
              <a:t>EmpNo</a:t>
            </a:r>
            <a:r>
              <a:rPr lang="en-US" dirty="0" smtClean="0"/>
              <a:t>, </a:t>
            </a:r>
            <a:r>
              <a:rPr lang="en-US" dirty="0" err="1" smtClean="0"/>
              <a:t>EmpSalary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HourlyEmp</a:t>
            </a:r>
            <a:r>
              <a:rPr lang="en-US" dirty="0" smtClean="0"/>
              <a:t> (</a:t>
            </a:r>
            <a:r>
              <a:rPr lang="en-US" b="1" i="1" dirty="0" err="1" smtClean="0"/>
              <a:t>EmpNo</a:t>
            </a:r>
            <a:r>
              <a:rPr lang="en-US" dirty="0" smtClean="0"/>
              <a:t>, </a:t>
            </a:r>
            <a:r>
              <a:rPr lang="en-US" dirty="0" err="1" smtClean="0"/>
              <a:t>EmpRate</a:t>
            </a:r>
            <a:r>
              <a:rPr lang="en-US" dirty="0" smtClean="0"/>
              <a:t>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38412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1:1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For </a:t>
            </a:r>
            <a:r>
              <a:rPr lang="en-US" sz="2800" dirty="0"/>
              <a:t>a 1:1 Relationship between two entities S and T. Choose one of the relations, Example - S and include as foreign key in S the primary key of T. 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 smtClean="0"/>
              <a:t>It </a:t>
            </a:r>
            <a:r>
              <a:rPr lang="en-US" sz="2800" dirty="0"/>
              <a:t>is better to choose on entity total participation on S and include descriptive attribute.</a:t>
            </a:r>
            <a:endParaRPr lang="vi-VN" sz="2800" dirty="0"/>
          </a:p>
        </p:txBody>
      </p:sp>
      <p:pic>
        <p:nvPicPr>
          <p:cNvPr id="3076" name="Picture 4" descr="Step-by-step on database modeling using ERD on MySQL database screensho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4341159"/>
            <a:ext cx="614362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906871" y="4491318"/>
            <a:ext cx="3911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Office (</a:t>
            </a:r>
            <a:r>
              <a:rPr lang="en-US" b="1" dirty="0" err="1" smtClean="0"/>
              <a:t>OfficeNo</a:t>
            </a:r>
            <a:r>
              <a:rPr lang="en-US" dirty="0" smtClean="0"/>
              <a:t>, </a:t>
            </a:r>
            <a:r>
              <a:rPr lang="en-US" dirty="0" err="1" smtClean="0"/>
              <a:t>OffAddress</a:t>
            </a:r>
            <a:r>
              <a:rPr lang="en-US" dirty="0" smtClean="0"/>
              <a:t>, </a:t>
            </a:r>
            <a:r>
              <a:rPr lang="en-US" dirty="0" err="1" smtClean="0"/>
              <a:t>OffPhone</a:t>
            </a:r>
            <a:r>
              <a:rPr lang="en-US" dirty="0" smtClean="0"/>
              <a:t>)</a:t>
            </a:r>
          </a:p>
          <a:p>
            <a:r>
              <a:rPr lang="en-US" dirty="0" smtClean="0"/>
              <a:t>Employee (</a:t>
            </a:r>
            <a:r>
              <a:rPr lang="en-US" b="1" dirty="0" err="1" smtClean="0"/>
              <a:t>EmpNo</a:t>
            </a:r>
            <a:r>
              <a:rPr lang="en-US" dirty="0" smtClean="0"/>
              <a:t>, </a:t>
            </a:r>
            <a:r>
              <a:rPr lang="en-US" dirty="0" err="1" smtClean="0"/>
              <a:t>EmpName</a:t>
            </a:r>
            <a:r>
              <a:rPr lang="en-US" dirty="0" smtClean="0"/>
              <a:t>, </a:t>
            </a:r>
            <a:r>
              <a:rPr lang="en-US" i="1" dirty="0" err="1" smtClean="0"/>
              <a:t>OffNo</a:t>
            </a:r>
            <a:r>
              <a:rPr lang="en-US" dirty="0" smtClean="0"/>
              <a:t>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16270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Mapping 1:N Relationship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305826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For </a:t>
            </a:r>
            <a:r>
              <a:rPr lang="en-US" sz="2800" dirty="0"/>
              <a:t>1:N relationship identify the entity S on N side of the </a:t>
            </a:r>
            <a:r>
              <a:rPr lang="en-US" sz="2800" dirty="0" smtClean="0"/>
              <a:t>relationship, </a:t>
            </a:r>
            <a:r>
              <a:rPr lang="en-US" sz="2800" dirty="0" smtClean="0">
                <a:solidFill>
                  <a:srgbClr val="FF0000"/>
                </a:solidFill>
              </a:rPr>
              <a:t>include </a:t>
            </a:r>
            <a:r>
              <a:rPr lang="en-US" sz="2800" dirty="0">
                <a:solidFill>
                  <a:srgbClr val="FF0000"/>
                </a:solidFill>
              </a:rPr>
              <a:t>a foreign key in S the Primary key of relation T</a:t>
            </a:r>
            <a:r>
              <a:rPr lang="en-US" sz="2800" dirty="0"/>
              <a:t> also include Discipline attributes of 1:N attribute of S.</a:t>
            </a:r>
            <a:endParaRPr lang="vi-VN" sz="2800" dirty="0"/>
          </a:p>
        </p:txBody>
      </p:sp>
      <p:pic>
        <p:nvPicPr>
          <p:cNvPr id="4098" name="Picture 2" descr="Káº¿t quáº£ hÃ¬nh áº£nh cho convert erd generalization to relational 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3857414"/>
            <a:ext cx="6153150" cy="216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979024" y="4615336"/>
            <a:ext cx="4986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Course (</a:t>
            </a:r>
            <a:r>
              <a:rPr lang="en-US" b="1" dirty="0" err="1" smtClean="0"/>
              <a:t>CourseNo</a:t>
            </a:r>
            <a:r>
              <a:rPr lang="en-US" dirty="0" smtClean="0"/>
              <a:t>, </a:t>
            </a:r>
            <a:r>
              <a:rPr lang="en-US" dirty="0" err="1" smtClean="0"/>
              <a:t>CrsDesc</a:t>
            </a:r>
            <a:r>
              <a:rPr lang="en-US" dirty="0" smtClean="0"/>
              <a:t>, </a:t>
            </a:r>
            <a:r>
              <a:rPr lang="en-US" dirty="0" err="1" smtClean="0"/>
              <a:t>CrsUnits</a:t>
            </a:r>
            <a:r>
              <a:rPr lang="en-US" dirty="0" smtClean="0"/>
              <a:t>)</a:t>
            </a:r>
          </a:p>
          <a:p>
            <a:r>
              <a:rPr lang="en-US" dirty="0" smtClean="0"/>
              <a:t>Offering (</a:t>
            </a:r>
            <a:r>
              <a:rPr lang="en-US" b="1" dirty="0" err="1" smtClean="0"/>
              <a:t>OfferNo</a:t>
            </a:r>
            <a:r>
              <a:rPr lang="en-US" dirty="0" smtClean="0"/>
              <a:t>, </a:t>
            </a:r>
            <a:r>
              <a:rPr lang="en-US" dirty="0" err="1" smtClean="0"/>
              <a:t>OffLocation</a:t>
            </a:r>
            <a:r>
              <a:rPr lang="en-US" dirty="0" smtClean="0"/>
              <a:t>, </a:t>
            </a:r>
            <a:r>
              <a:rPr lang="en-US" dirty="0" err="1" smtClean="0"/>
              <a:t>OffTime</a:t>
            </a:r>
            <a:r>
              <a:rPr lang="en-US" dirty="0" smtClean="0"/>
              <a:t>, </a:t>
            </a:r>
            <a:r>
              <a:rPr lang="en-US" i="1" dirty="0" err="1" smtClean="0"/>
              <a:t>CourseNo</a:t>
            </a:r>
            <a:r>
              <a:rPr lang="en-US" dirty="0" smtClean="0"/>
              <a:t>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5050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Mapping N:N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For </a:t>
            </a:r>
            <a:r>
              <a:rPr lang="en-US" sz="2800" dirty="0"/>
              <a:t>each M:N </a:t>
            </a:r>
            <a:r>
              <a:rPr lang="en-US" sz="2800" dirty="0" smtClean="0"/>
              <a:t>relationship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 smtClean="0"/>
              <a:t>Create </a:t>
            </a:r>
            <a:r>
              <a:rPr lang="en-US" sz="2600" dirty="0"/>
              <a:t>a new relational table include in the new </a:t>
            </a:r>
            <a:r>
              <a:rPr lang="en-US" sz="2600" dirty="0" smtClean="0"/>
              <a:t>relation,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 smtClean="0"/>
              <a:t>The </a:t>
            </a:r>
            <a:r>
              <a:rPr lang="en-US" sz="2600" dirty="0"/>
              <a:t>primary key of the participating entities as a well as descriptive </a:t>
            </a:r>
            <a:r>
              <a:rPr lang="en-US" sz="2600" dirty="0" smtClean="0"/>
              <a:t>attributes,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 smtClean="0"/>
              <a:t>The </a:t>
            </a:r>
            <a:r>
              <a:rPr lang="en-US" sz="2600" dirty="0"/>
              <a:t>primary key of the table will be the combination of primary keys of participating entities.</a:t>
            </a:r>
            <a:endParaRPr lang="vi-VN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893934"/>
            <a:ext cx="5798897" cy="686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47212" y="4693024"/>
            <a:ext cx="30242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STUDENT (</a:t>
            </a:r>
            <a:r>
              <a:rPr lang="en-US" b="1" dirty="0" err="1" smtClean="0"/>
              <a:t>StudentID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COURSE (</a:t>
            </a:r>
            <a:r>
              <a:rPr lang="en-US" b="1" dirty="0" err="1" smtClean="0"/>
              <a:t>CourseID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EnrollIn</a:t>
            </a:r>
            <a:r>
              <a:rPr lang="en-US" dirty="0" smtClean="0"/>
              <a:t> (</a:t>
            </a:r>
            <a:r>
              <a:rPr lang="en-US" b="1" i="1" dirty="0" err="1" smtClean="0"/>
              <a:t>StudentID</a:t>
            </a:r>
            <a:r>
              <a:rPr lang="en-US" b="1" i="1" dirty="0" smtClean="0"/>
              <a:t>, </a:t>
            </a:r>
            <a:r>
              <a:rPr lang="en-US" b="1" i="1" dirty="0" err="1" smtClean="0"/>
              <a:t>CourseID</a:t>
            </a:r>
            <a:r>
              <a:rPr lang="en-US" dirty="0" smtClean="0"/>
              <a:t>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1376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Mapping weak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Convert </a:t>
            </a:r>
            <a:r>
              <a:rPr lang="en-US" sz="3200" dirty="0">
                <a:solidFill>
                  <a:srgbClr val="FF0000"/>
                </a:solidFill>
              </a:rPr>
              <a:t>every weak entity set into a table</a:t>
            </a:r>
            <a:r>
              <a:rPr lang="en-US" sz="3200" dirty="0"/>
              <a:t> </a:t>
            </a:r>
            <a:r>
              <a:rPr lang="en-US" sz="3200" dirty="0" smtClean="0"/>
              <a:t>where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 smtClean="0"/>
              <a:t>we </a:t>
            </a:r>
            <a:r>
              <a:rPr lang="en-US" sz="2800" dirty="0"/>
              <a:t>take the discrimination attribute of the weak entity set and </a:t>
            </a:r>
            <a:r>
              <a:rPr lang="en-US" sz="2800" dirty="0">
                <a:solidFill>
                  <a:srgbClr val="FF0000"/>
                </a:solidFill>
              </a:rPr>
              <a:t>takes the primary key of the strong entity set as a foreign </a:t>
            </a:r>
            <a:r>
              <a:rPr lang="en-US" sz="2800" dirty="0" smtClean="0">
                <a:solidFill>
                  <a:srgbClr val="FF0000"/>
                </a:solidFill>
              </a:rPr>
              <a:t>key.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 smtClean="0"/>
              <a:t>and </a:t>
            </a:r>
            <a:r>
              <a:rPr lang="en-US" sz="2800" dirty="0"/>
              <a:t>then </a:t>
            </a:r>
            <a:r>
              <a:rPr lang="en-US" sz="2800" dirty="0">
                <a:solidFill>
                  <a:srgbClr val="FF0000"/>
                </a:solidFill>
              </a:rPr>
              <a:t>declared the combination of discriminator attribute and foreign key as a primary key</a:t>
            </a:r>
            <a:r>
              <a:rPr lang="en-US" sz="2800" dirty="0"/>
              <a:t>.</a:t>
            </a:r>
            <a:endParaRPr lang="vi-V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539" y="4304144"/>
            <a:ext cx="10284904" cy="827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2929" y="5526741"/>
            <a:ext cx="4041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CITY (</a:t>
            </a:r>
            <a:r>
              <a:rPr lang="en-US" b="1" dirty="0" smtClean="0"/>
              <a:t>CITY_NAME</a:t>
            </a:r>
            <a:r>
              <a:rPr lang="en-US" dirty="0" smtClean="0"/>
              <a:t>)</a:t>
            </a:r>
          </a:p>
          <a:p>
            <a:r>
              <a:rPr lang="en-US" dirty="0" smtClean="0"/>
              <a:t>DISTRICT (</a:t>
            </a:r>
            <a:r>
              <a:rPr lang="en-US" b="1" dirty="0" smtClean="0"/>
              <a:t>DISTRICT_NAME, </a:t>
            </a:r>
            <a:r>
              <a:rPr lang="en-US" b="1" i="1" dirty="0" smtClean="0"/>
              <a:t>CITY_NAME</a:t>
            </a:r>
            <a:r>
              <a:rPr lang="en-US" dirty="0" smtClean="0"/>
              <a:t>)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0296881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856" y="3002909"/>
            <a:ext cx="10058400" cy="1450757"/>
          </a:xfrm>
        </p:spPr>
        <p:txBody>
          <a:bodyPr/>
          <a:lstStyle/>
          <a:p>
            <a:pPr algn="ctr"/>
            <a:r>
              <a:rPr lang="vi-VN" dirty="0"/>
              <a:t>VALIDATING AN ERD</a:t>
            </a:r>
          </a:p>
        </p:txBody>
      </p:sp>
    </p:spTree>
    <p:extLst>
      <p:ext uri="{BB962C8B-B14F-4D97-AF65-F5344CB8AC3E}">
        <p14:creationId xmlns:p14="http://schemas.microsoft.com/office/powerpoint/2010/main" val="1450458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Technique used to validate </a:t>
            </a:r>
            <a:r>
              <a:rPr lang="en-US" sz="2800" dirty="0" smtClean="0"/>
              <a:t>data models.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Series of rules applied to </a:t>
            </a:r>
            <a:r>
              <a:rPr lang="en-US" sz="2800" dirty="0" smtClean="0"/>
              <a:t>logical data </a:t>
            </a:r>
            <a:r>
              <a:rPr lang="en-US" sz="2800" dirty="0"/>
              <a:t>model to improve </a:t>
            </a:r>
            <a:r>
              <a:rPr lang="en-US" sz="2800" dirty="0" smtClean="0"/>
              <a:t>its organization.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Three normalization rules </a:t>
            </a:r>
            <a:r>
              <a:rPr lang="en-US" sz="2800" dirty="0" smtClean="0"/>
              <a:t>are common.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22446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83291"/>
          </a:xfrm>
        </p:spPr>
        <p:txBody>
          <a:bodyPr/>
          <a:lstStyle/>
          <a:p>
            <a:r>
              <a:rPr lang="vi-VN" dirty="0"/>
              <a:t>Normalization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471" y="1468283"/>
            <a:ext cx="8370018" cy="529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1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First Normal Form (1NF)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5734"/>
            <a:ext cx="3454221" cy="44723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633" y="2365598"/>
            <a:ext cx="6675130" cy="298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9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Second Normal Form (2NF)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If </a:t>
            </a:r>
            <a:r>
              <a:rPr lang="en-US" sz="2800" dirty="0"/>
              <a:t>an </a:t>
            </a:r>
            <a:r>
              <a:rPr lang="en-US" sz="2800" dirty="0">
                <a:solidFill>
                  <a:srgbClr val="FF0000"/>
                </a:solidFill>
              </a:rPr>
              <a:t>entity has a concatenated identifier</a:t>
            </a:r>
            <a:r>
              <a:rPr lang="en-US" sz="2800" dirty="0"/>
              <a:t>, look for attributes </a:t>
            </a:r>
            <a:r>
              <a:rPr lang="en-US" sz="2800" dirty="0" smtClean="0"/>
              <a:t>that depend </a:t>
            </a:r>
            <a:r>
              <a:rPr lang="en-US" sz="2800" dirty="0"/>
              <a:t>only on part of the identifier. If found, remove to new entity.</a:t>
            </a:r>
            <a:endParaRPr lang="vi-V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628" y="2807140"/>
            <a:ext cx="7241704" cy="394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249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Third Normal Form (3NF)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Look for attributes that depend only on another non-identifying </a:t>
            </a:r>
            <a:r>
              <a:rPr lang="en-US" sz="2800" dirty="0" smtClean="0"/>
              <a:t>attribute. If </a:t>
            </a:r>
            <a:r>
              <a:rPr lang="en-US" sz="2800" dirty="0"/>
              <a:t>found, remove to new entity. Also remove any calculated attributes.</a:t>
            </a:r>
            <a:endParaRPr lang="vi-V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87" y="3174379"/>
            <a:ext cx="7331579" cy="350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065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620</TotalTime>
  <Words>1288</Words>
  <Application>Microsoft Office PowerPoint</Application>
  <PresentationFormat>Widescreen</PresentationFormat>
  <Paragraphs>122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Wingdings</vt:lpstr>
      <vt:lpstr>Retrospect</vt:lpstr>
      <vt:lpstr>ENTITY RELATIONSHIP DIAGRAM (ERD)</vt:lpstr>
      <vt:lpstr>Key Definitions</vt:lpstr>
      <vt:lpstr>Key Definitions</vt:lpstr>
      <vt:lpstr>What Is an ERD?</vt:lpstr>
      <vt:lpstr>Using the ERD to Show Business Rules</vt:lpstr>
      <vt:lpstr>Using the ERD to Show Business Rules</vt:lpstr>
      <vt:lpstr>An ERD Example</vt:lpstr>
      <vt:lpstr>ERD Elements</vt:lpstr>
      <vt:lpstr>Entity</vt:lpstr>
      <vt:lpstr>Entities and Instances</vt:lpstr>
      <vt:lpstr>Attributes</vt:lpstr>
      <vt:lpstr>Identifiers</vt:lpstr>
      <vt:lpstr>Choices for Identifiers</vt:lpstr>
      <vt:lpstr>Generalization - Specialization</vt:lpstr>
      <vt:lpstr>PowerPoint Presentation</vt:lpstr>
      <vt:lpstr>PowerPoint Presentation</vt:lpstr>
      <vt:lpstr>Relationships</vt:lpstr>
      <vt:lpstr>Cardinality</vt:lpstr>
      <vt:lpstr>PowerPoint Presentation</vt:lpstr>
      <vt:lpstr>Modality</vt:lpstr>
      <vt:lpstr>PowerPoint Presentation</vt:lpstr>
      <vt:lpstr>PowerPoint Presentation</vt:lpstr>
      <vt:lpstr>PowerPoint Presentation</vt:lpstr>
      <vt:lpstr>Recursive Relationship</vt:lpstr>
      <vt:lpstr>PowerPoint Presentation</vt:lpstr>
      <vt:lpstr>Weak Entity</vt:lpstr>
      <vt:lpstr>PowerPoint Presentation</vt:lpstr>
      <vt:lpstr>Attribute relationship</vt:lpstr>
      <vt:lpstr>PowerPoint Presentation</vt:lpstr>
      <vt:lpstr>N-ary relationship</vt:lpstr>
      <vt:lpstr>N-ary relationship</vt:lpstr>
      <vt:lpstr>Conversion of ER Diagram to Relational model</vt:lpstr>
      <vt:lpstr>Mapping (regular/strong) entity</vt:lpstr>
      <vt:lpstr>Converting Generalization Hierarchies</vt:lpstr>
      <vt:lpstr>Mapping 1:1 Relationship</vt:lpstr>
      <vt:lpstr>Mapping 1:N Relationship</vt:lpstr>
      <vt:lpstr>Mapping N:N Relationship</vt:lpstr>
      <vt:lpstr>Mapping weak entity</vt:lpstr>
      <vt:lpstr>VALIDATING AN ERD</vt:lpstr>
      <vt:lpstr>Normalization</vt:lpstr>
      <vt:lpstr>Normalization Steps</vt:lpstr>
      <vt:lpstr>First Normal Form (1NF)</vt:lpstr>
      <vt:lpstr>Second Normal Form (2NF)</vt:lpstr>
      <vt:lpstr>Third Normal Form (3NF)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RELATIONSHIP DIAGRAM (ERD)</dc:title>
  <dc:creator>Quoc Dinh Truong</dc:creator>
  <cp:lastModifiedBy>Quoc Dinh Truong</cp:lastModifiedBy>
  <cp:revision>54</cp:revision>
  <dcterms:created xsi:type="dcterms:W3CDTF">2019-01-06T11:20:08Z</dcterms:created>
  <dcterms:modified xsi:type="dcterms:W3CDTF">2019-01-25T00:17:13Z</dcterms:modified>
</cp:coreProperties>
</file>