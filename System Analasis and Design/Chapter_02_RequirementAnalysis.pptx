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5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7" r:id="rId21"/>
    <p:sldId id="276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2723-4A45-4984-A7DE-A04A99DCD7C6}" type="datetimeFigureOut">
              <a:rPr lang="vi-VN" smtClean="0"/>
              <a:t>01/01/2019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24545-D4C9-4F40-8AEB-6BED2CAED17E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850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2723-4A45-4984-A7DE-A04A99DCD7C6}" type="datetimeFigureOut">
              <a:rPr lang="vi-VN" smtClean="0"/>
              <a:t>01/01/2019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24545-D4C9-4F40-8AEB-6BED2CAED17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23705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2723-4A45-4984-A7DE-A04A99DCD7C6}" type="datetimeFigureOut">
              <a:rPr lang="vi-VN" smtClean="0"/>
              <a:t>01/01/2019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24545-D4C9-4F40-8AEB-6BED2CAED17E}" type="slidenum">
              <a:rPr lang="vi-VN" smtClean="0"/>
              <a:t>‹#›</a:t>
            </a:fld>
            <a:endParaRPr lang="vi-V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2484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2723-4A45-4984-A7DE-A04A99DCD7C6}" type="datetimeFigureOut">
              <a:rPr lang="vi-VN" smtClean="0"/>
              <a:t>01/01/2019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24545-D4C9-4F40-8AEB-6BED2CAED17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648547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2723-4A45-4984-A7DE-A04A99DCD7C6}" type="datetimeFigureOut">
              <a:rPr lang="vi-VN" smtClean="0"/>
              <a:t>01/01/2019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24545-D4C9-4F40-8AEB-6BED2CAED17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00951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2723-4A45-4984-A7DE-A04A99DCD7C6}" type="datetimeFigureOut">
              <a:rPr lang="vi-VN" smtClean="0"/>
              <a:t>01/01/2019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24545-D4C9-4F40-8AEB-6BED2CAED17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514940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2723-4A45-4984-A7DE-A04A99DCD7C6}" type="datetimeFigureOut">
              <a:rPr lang="vi-VN" smtClean="0"/>
              <a:t>01/01/2019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24545-D4C9-4F40-8AEB-6BED2CAED17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68970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9152723-4A45-4984-A7DE-A04A99DCD7C6}" type="datetimeFigureOut">
              <a:rPr lang="vi-VN" smtClean="0"/>
              <a:t>01/01/2019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B624545-D4C9-4F40-8AEB-6BED2CAED17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83366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2723-4A45-4984-A7DE-A04A99DCD7C6}" type="datetimeFigureOut">
              <a:rPr lang="vi-VN" smtClean="0"/>
              <a:t>01/01/2019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24545-D4C9-4F40-8AEB-6BED2CAED17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48532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2723-4A45-4984-A7DE-A04A99DCD7C6}" type="datetimeFigureOut">
              <a:rPr lang="vi-VN" smtClean="0"/>
              <a:t>01/01/2019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24545-D4C9-4F40-8AEB-6BED2CAED17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84373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152723-4A45-4984-A7DE-A04A99DCD7C6}" type="datetimeFigureOut">
              <a:rPr lang="vi-VN" smtClean="0"/>
              <a:t>01/01/2019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24545-D4C9-4F40-8AEB-6BED2CAED17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95356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9152723-4A45-4984-A7DE-A04A99DCD7C6}" type="datetimeFigureOut">
              <a:rPr lang="vi-VN" smtClean="0"/>
              <a:t>01/01/2019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B624545-D4C9-4F40-8AEB-6BED2CAED17E}" type="slidenum">
              <a:rPr lang="vi-VN" smtClean="0"/>
              <a:t>‹#›</a:t>
            </a:fld>
            <a:endParaRPr lang="vi-V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721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16680" y="2608729"/>
            <a:ext cx="10225144" cy="1205394"/>
          </a:xfrm>
          <a:prstGeom prst="rect">
            <a:avLst/>
          </a:prstGeom>
        </p:spPr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88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analysis</a:t>
            </a:r>
            <a:endParaRPr lang="vi-VN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933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definitions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smtClean="0"/>
              <a:t> The </a:t>
            </a:r>
            <a:r>
              <a:rPr lang="en-US" sz="3200" dirty="0">
                <a:solidFill>
                  <a:srgbClr val="FF0000"/>
                </a:solidFill>
              </a:rPr>
              <a:t>As-Is system</a:t>
            </a:r>
            <a:r>
              <a:rPr lang="en-US" sz="3200" dirty="0"/>
              <a:t> is the </a:t>
            </a:r>
            <a:r>
              <a:rPr lang="en-US" sz="3200" dirty="0" smtClean="0">
                <a:solidFill>
                  <a:srgbClr val="0070C0"/>
                </a:solidFill>
              </a:rPr>
              <a:t>current system</a:t>
            </a:r>
            <a:r>
              <a:rPr lang="en-US" sz="3200" dirty="0" smtClean="0"/>
              <a:t> </a:t>
            </a:r>
            <a:r>
              <a:rPr lang="en-US" sz="3200" dirty="0"/>
              <a:t>and may or </a:t>
            </a:r>
            <a:r>
              <a:rPr lang="en-US" sz="3200" dirty="0">
                <a:solidFill>
                  <a:srgbClr val="0070C0"/>
                </a:solidFill>
              </a:rPr>
              <a:t>may not </a:t>
            </a:r>
            <a:r>
              <a:rPr lang="en-US" sz="3200" dirty="0" smtClean="0">
                <a:solidFill>
                  <a:srgbClr val="0070C0"/>
                </a:solidFill>
              </a:rPr>
              <a:t>be computerized</a:t>
            </a:r>
            <a:r>
              <a:rPr lang="en-US" sz="3200" dirty="0" smtClean="0"/>
              <a:t>.</a:t>
            </a:r>
            <a:endParaRPr lang="en-US" sz="32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smtClean="0"/>
              <a:t> The </a:t>
            </a:r>
            <a:r>
              <a:rPr lang="en-US" sz="3200" dirty="0">
                <a:solidFill>
                  <a:srgbClr val="FF0000"/>
                </a:solidFill>
              </a:rPr>
              <a:t>To-Be system</a:t>
            </a:r>
            <a:r>
              <a:rPr lang="en-US" sz="3200" dirty="0"/>
              <a:t> is the </a:t>
            </a:r>
            <a:r>
              <a:rPr lang="en-US" sz="3200" dirty="0" smtClean="0">
                <a:solidFill>
                  <a:srgbClr val="0070C0"/>
                </a:solidFill>
              </a:rPr>
              <a:t>new system</a:t>
            </a:r>
            <a:r>
              <a:rPr lang="en-US" sz="3200" dirty="0" smtClean="0"/>
              <a:t> </a:t>
            </a:r>
            <a:r>
              <a:rPr lang="en-US" sz="3200" dirty="0"/>
              <a:t>that is </a:t>
            </a:r>
            <a:r>
              <a:rPr lang="en-US" sz="3200" dirty="0">
                <a:solidFill>
                  <a:srgbClr val="0070C0"/>
                </a:solidFill>
              </a:rPr>
              <a:t>based on </a:t>
            </a:r>
            <a:r>
              <a:rPr lang="en-US" sz="3200" dirty="0" smtClean="0">
                <a:solidFill>
                  <a:srgbClr val="0070C0"/>
                </a:solidFill>
              </a:rPr>
              <a:t>updated requirements</a:t>
            </a:r>
            <a:r>
              <a:rPr lang="en-US" sz="3200" dirty="0" smtClean="0"/>
              <a:t>.</a:t>
            </a:r>
            <a:endParaRPr lang="en-US" sz="3200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 smtClean="0"/>
              <a:t> The </a:t>
            </a:r>
            <a:r>
              <a:rPr lang="en-US" sz="3200" dirty="0">
                <a:solidFill>
                  <a:srgbClr val="FF0000"/>
                </a:solidFill>
              </a:rPr>
              <a:t>System Proposal</a:t>
            </a:r>
            <a:r>
              <a:rPr lang="en-US" sz="3200" dirty="0"/>
              <a:t> is the </a:t>
            </a:r>
            <a:r>
              <a:rPr lang="en-US" sz="3200" dirty="0" smtClean="0">
                <a:solidFill>
                  <a:srgbClr val="0070C0"/>
                </a:solidFill>
              </a:rPr>
              <a:t>key deliverable </a:t>
            </a:r>
            <a:r>
              <a:rPr lang="en-US" sz="3200" dirty="0">
                <a:solidFill>
                  <a:schemeClr val="tx1"/>
                </a:solidFill>
              </a:rPr>
              <a:t>from the</a:t>
            </a:r>
            <a:r>
              <a:rPr lang="en-US" sz="3200" dirty="0">
                <a:solidFill>
                  <a:srgbClr val="0070C0"/>
                </a:solidFill>
              </a:rPr>
              <a:t> Analysis </a:t>
            </a:r>
            <a:r>
              <a:rPr lang="en-US" sz="3200" dirty="0" smtClean="0">
                <a:solidFill>
                  <a:srgbClr val="0070C0"/>
                </a:solidFill>
              </a:rPr>
              <a:t>Phase</a:t>
            </a:r>
            <a:r>
              <a:rPr lang="en-US" sz="3200" dirty="0" smtClean="0"/>
              <a:t>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651274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Key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The </a:t>
            </a:r>
            <a:r>
              <a:rPr lang="en-US" sz="2800" dirty="0">
                <a:solidFill>
                  <a:srgbClr val="FF0000"/>
                </a:solidFill>
              </a:rPr>
              <a:t>goal of the analysis phase</a:t>
            </a:r>
            <a:r>
              <a:rPr lang="en-US" sz="2800" dirty="0"/>
              <a:t> is to </a:t>
            </a:r>
            <a:r>
              <a:rPr lang="en-US" sz="2800" dirty="0" smtClean="0">
                <a:solidFill>
                  <a:srgbClr val="0070C0"/>
                </a:solidFill>
              </a:rPr>
              <a:t>truly understand </a:t>
            </a:r>
            <a:r>
              <a:rPr lang="en-US" sz="2800" dirty="0">
                <a:solidFill>
                  <a:srgbClr val="0070C0"/>
                </a:solidFill>
              </a:rPr>
              <a:t>the requirements of the </a:t>
            </a:r>
            <a:r>
              <a:rPr lang="en-US" sz="2800" dirty="0" smtClean="0">
                <a:solidFill>
                  <a:srgbClr val="0070C0"/>
                </a:solidFill>
              </a:rPr>
              <a:t>new system </a:t>
            </a:r>
            <a:r>
              <a:rPr lang="en-US" sz="2800" dirty="0">
                <a:solidFill>
                  <a:srgbClr val="0070C0"/>
                </a:solidFill>
              </a:rPr>
              <a:t>and develop a system that </a:t>
            </a:r>
            <a:r>
              <a:rPr lang="en-US" sz="2800" dirty="0" smtClean="0">
                <a:solidFill>
                  <a:srgbClr val="0070C0"/>
                </a:solidFill>
              </a:rPr>
              <a:t>addresses them </a:t>
            </a:r>
            <a:r>
              <a:rPr lang="en-US" sz="2800" dirty="0">
                <a:solidFill>
                  <a:srgbClr val="0070C0"/>
                </a:solidFill>
              </a:rPr>
              <a:t>-- or decide a new system isn’t needed</a:t>
            </a:r>
            <a:r>
              <a:rPr lang="en-US" sz="2800" dirty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The </a:t>
            </a:r>
            <a:r>
              <a:rPr lang="en-US" sz="2800" dirty="0">
                <a:solidFill>
                  <a:srgbClr val="FF0000"/>
                </a:solidFill>
              </a:rPr>
              <a:t>System Proposal</a:t>
            </a:r>
            <a:r>
              <a:rPr lang="en-US" sz="2800" dirty="0"/>
              <a:t> is presented to </a:t>
            </a:r>
            <a:r>
              <a:rPr lang="en-US" sz="2800" dirty="0" smtClean="0"/>
              <a:t>the </a:t>
            </a:r>
            <a:r>
              <a:rPr lang="en-US" sz="2800" dirty="0" smtClean="0">
                <a:solidFill>
                  <a:srgbClr val="0070C0"/>
                </a:solidFill>
              </a:rPr>
              <a:t>approval </a:t>
            </a:r>
            <a:r>
              <a:rPr lang="en-US" sz="2800" dirty="0">
                <a:solidFill>
                  <a:srgbClr val="0070C0"/>
                </a:solidFill>
              </a:rPr>
              <a:t>committee</a:t>
            </a:r>
            <a:r>
              <a:rPr lang="en-US" sz="2800" dirty="0"/>
              <a:t> via a system walk-through.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Systems </a:t>
            </a:r>
            <a:r>
              <a:rPr lang="en-US" sz="2800" dirty="0"/>
              <a:t>analysis incorporates initial </a:t>
            </a:r>
            <a:r>
              <a:rPr lang="en-US" sz="2800" dirty="0" smtClean="0"/>
              <a:t>systems design</a:t>
            </a:r>
            <a:r>
              <a:rPr lang="en-US" sz="2800" dirty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Requirements </a:t>
            </a:r>
            <a:r>
              <a:rPr lang="en-US" sz="2800" dirty="0">
                <a:solidFill>
                  <a:srgbClr val="FF0000"/>
                </a:solidFill>
              </a:rPr>
              <a:t>determination</a:t>
            </a:r>
            <a:r>
              <a:rPr lang="en-US" sz="2800" dirty="0"/>
              <a:t> is the </a:t>
            </a:r>
            <a:r>
              <a:rPr lang="en-US" sz="2800" dirty="0">
                <a:solidFill>
                  <a:srgbClr val="0070C0"/>
                </a:solidFill>
              </a:rPr>
              <a:t>single </a:t>
            </a:r>
            <a:r>
              <a:rPr lang="en-US" sz="2800" dirty="0" smtClean="0">
                <a:solidFill>
                  <a:srgbClr val="0070C0"/>
                </a:solidFill>
              </a:rPr>
              <a:t>most critical</a:t>
            </a:r>
            <a:r>
              <a:rPr lang="en-US" sz="2800" dirty="0" smtClean="0"/>
              <a:t> </a:t>
            </a:r>
            <a:r>
              <a:rPr lang="en-US" sz="2800" dirty="0"/>
              <a:t>step of the entire SDLC.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221695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What is a Requirement?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A </a:t>
            </a:r>
            <a:r>
              <a:rPr lang="en-US" sz="3200" dirty="0"/>
              <a:t>statement of </a:t>
            </a:r>
            <a:r>
              <a:rPr lang="en-US" sz="3200" dirty="0">
                <a:solidFill>
                  <a:srgbClr val="FF0000"/>
                </a:solidFill>
              </a:rPr>
              <a:t>what the system must </a:t>
            </a:r>
            <a:r>
              <a:rPr lang="en-US" sz="3200" dirty="0" smtClean="0">
                <a:solidFill>
                  <a:srgbClr val="FF0000"/>
                </a:solidFill>
              </a:rPr>
              <a:t>do</a:t>
            </a:r>
            <a:r>
              <a:rPr lang="en-US" sz="3200" dirty="0" smtClean="0"/>
              <a:t>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A </a:t>
            </a:r>
            <a:r>
              <a:rPr lang="en-US" sz="3200" dirty="0"/>
              <a:t>statement of </a:t>
            </a:r>
            <a:r>
              <a:rPr lang="en-US" sz="3200" dirty="0">
                <a:solidFill>
                  <a:srgbClr val="FF0000"/>
                </a:solidFill>
              </a:rPr>
              <a:t>characteristics the </a:t>
            </a:r>
            <a:r>
              <a:rPr lang="en-US" sz="3200" dirty="0" smtClean="0">
                <a:solidFill>
                  <a:srgbClr val="FF0000"/>
                </a:solidFill>
              </a:rPr>
              <a:t>system must have</a:t>
            </a:r>
            <a:r>
              <a:rPr lang="en-US" sz="3200" dirty="0" smtClean="0"/>
              <a:t>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Focus </a:t>
            </a:r>
            <a:r>
              <a:rPr lang="en-US" sz="3200" dirty="0"/>
              <a:t>is on </a:t>
            </a:r>
            <a:r>
              <a:rPr lang="en-US" sz="3200" dirty="0">
                <a:solidFill>
                  <a:srgbClr val="FF0000"/>
                </a:solidFill>
              </a:rPr>
              <a:t>business user needs</a:t>
            </a:r>
            <a:r>
              <a:rPr lang="en-US" sz="3200" dirty="0"/>
              <a:t> </a:t>
            </a:r>
            <a:r>
              <a:rPr lang="en-US" sz="3200" dirty="0" smtClean="0"/>
              <a:t>during analysis phase. 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Requirements </a:t>
            </a:r>
            <a:r>
              <a:rPr lang="en-US" sz="3200" dirty="0"/>
              <a:t>will </a:t>
            </a:r>
            <a:r>
              <a:rPr lang="en-US" sz="3200" dirty="0">
                <a:solidFill>
                  <a:srgbClr val="FF0000"/>
                </a:solidFill>
              </a:rPr>
              <a:t>change over time</a:t>
            </a:r>
            <a:r>
              <a:rPr lang="en-US" sz="3200" dirty="0"/>
              <a:t> </a:t>
            </a:r>
            <a:r>
              <a:rPr lang="en-US" sz="3200" dirty="0" smtClean="0"/>
              <a:t>as project </a:t>
            </a:r>
            <a:r>
              <a:rPr lang="en-US" sz="3200" dirty="0"/>
              <a:t>moves from analysis to design </a:t>
            </a:r>
            <a:r>
              <a:rPr lang="en-US" sz="3200" dirty="0" smtClean="0"/>
              <a:t>to implementation.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331976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Requirement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Functional </a:t>
            </a:r>
            <a:r>
              <a:rPr lang="en-US" sz="3200" dirty="0">
                <a:solidFill>
                  <a:srgbClr val="FF0000"/>
                </a:solidFill>
              </a:rPr>
              <a:t>Requirements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A process the system has to perform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Information the system must contain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Nonfunctional </a:t>
            </a:r>
            <a:r>
              <a:rPr lang="en-US" sz="3200" dirty="0">
                <a:solidFill>
                  <a:srgbClr val="FF0000"/>
                </a:solidFill>
              </a:rPr>
              <a:t>Requirements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Behavioral properties the system must have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Operational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Performance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Security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2000" dirty="0"/>
              <a:t>Cultural and political</a:t>
            </a:r>
            <a:endParaRPr lang="vi-VN" sz="2000" dirty="0"/>
          </a:p>
        </p:txBody>
      </p:sp>
    </p:spTree>
    <p:extLst>
      <p:ext uri="{BB962C8B-B14F-4D97-AF65-F5344CB8AC3E}">
        <p14:creationId xmlns:p14="http://schemas.microsoft.com/office/powerpoint/2010/main" val="19544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Documenting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Requirements </a:t>
            </a:r>
            <a:r>
              <a:rPr lang="en-US" sz="3200" dirty="0"/>
              <a:t>definition report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Text document </a:t>
            </a:r>
            <a:r>
              <a:rPr lang="en-US" sz="2800" dirty="0">
                <a:solidFill>
                  <a:srgbClr val="FF0000"/>
                </a:solidFill>
              </a:rPr>
              <a:t>listing requirements</a:t>
            </a:r>
            <a:r>
              <a:rPr lang="en-US" sz="2800" dirty="0"/>
              <a:t> </a:t>
            </a:r>
            <a:r>
              <a:rPr lang="en-US" sz="2800" dirty="0" smtClean="0"/>
              <a:t>in outline </a:t>
            </a:r>
            <a:r>
              <a:rPr lang="en-US" sz="2800" dirty="0"/>
              <a:t>form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</a:rPr>
              <a:t>Priorities</a:t>
            </a:r>
            <a:r>
              <a:rPr lang="en-US" sz="2800" dirty="0"/>
              <a:t> may be included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Key </a:t>
            </a:r>
            <a:r>
              <a:rPr lang="en-US" sz="3200" dirty="0"/>
              <a:t>purpose is to </a:t>
            </a:r>
            <a:r>
              <a:rPr lang="en-US" sz="3200" dirty="0">
                <a:solidFill>
                  <a:srgbClr val="FF0000"/>
                </a:solidFill>
              </a:rPr>
              <a:t>define the </a:t>
            </a:r>
            <a:r>
              <a:rPr lang="en-US" sz="3200" dirty="0" smtClean="0">
                <a:solidFill>
                  <a:srgbClr val="FF0000"/>
                </a:solidFill>
              </a:rPr>
              <a:t>project scope</a:t>
            </a:r>
            <a:r>
              <a:rPr lang="en-US" sz="3200" dirty="0"/>
              <a:t>: what is and is not to </a:t>
            </a:r>
            <a:r>
              <a:rPr lang="en-US" sz="3200" dirty="0" smtClean="0"/>
              <a:t>be included</a:t>
            </a:r>
            <a:r>
              <a:rPr lang="en-US" sz="3200" dirty="0"/>
              <a:t>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335997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Determining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Participation </a:t>
            </a:r>
            <a:r>
              <a:rPr lang="en-US" sz="3200" dirty="0"/>
              <a:t>by business users </a:t>
            </a:r>
            <a:r>
              <a:rPr lang="en-US" sz="3200" dirty="0" smtClean="0"/>
              <a:t>is essential.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Three </a:t>
            </a:r>
            <a:r>
              <a:rPr lang="en-US" sz="3200" dirty="0"/>
              <a:t>techniques help </a:t>
            </a:r>
            <a:r>
              <a:rPr lang="en-US" sz="3200" dirty="0" smtClean="0"/>
              <a:t>users discover </a:t>
            </a:r>
            <a:r>
              <a:rPr lang="en-US" sz="3200" dirty="0"/>
              <a:t>their needs for the </a:t>
            </a:r>
            <a:r>
              <a:rPr lang="en-US" sz="3200" dirty="0" smtClean="0"/>
              <a:t>new system</a:t>
            </a:r>
            <a:r>
              <a:rPr lang="en-US" sz="3200" dirty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Business Process Automation (BPA)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Business Process Improvement (BPI)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Business Process Reengineering (BPR)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4007095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Determining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Understand </a:t>
            </a:r>
            <a:r>
              <a:rPr lang="en-US" sz="2800" dirty="0">
                <a:solidFill>
                  <a:srgbClr val="FF0000"/>
                </a:solidFill>
              </a:rPr>
              <a:t>the “As-Is” </a:t>
            </a:r>
            <a:r>
              <a:rPr lang="en-US" sz="2800" dirty="0" smtClean="0">
                <a:solidFill>
                  <a:srgbClr val="FF0000"/>
                </a:solidFill>
              </a:rPr>
              <a:t>system.</a:t>
            </a:r>
            <a:endParaRPr lang="en-US" sz="28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FF0000"/>
                </a:solidFill>
              </a:rPr>
              <a:t> Identify </a:t>
            </a:r>
            <a:r>
              <a:rPr lang="en-US" sz="2800" dirty="0">
                <a:solidFill>
                  <a:srgbClr val="FF0000"/>
                </a:solidFill>
              </a:rPr>
              <a:t>improvement </a:t>
            </a:r>
            <a:r>
              <a:rPr lang="en-US" sz="2800" dirty="0" smtClean="0">
                <a:solidFill>
                  <a:srgbClr val="FF0000"/>
                </a:solidFill>
              </a:rPr>
              <a:t>opportunities.</a:t>
            </a:r>
            <a:endParaRPr lang="en-US" sz="28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>
                <a:solidFill>
                  <a:srgbClr val="FF0000"/>
                </a:solidFill>
              </a:rPr>
              <a:t> Develop </a:t>
            </a:r>
            <a:r>
              <a:rPr lang="en-US" sz="2800" dirty="0">
                <a:solidFill>
                  <a:srgbClr val="FF0000"/>
                </a:solidFill>
              </a:rPr>
              <a:t>the “To-Be” system </a:t>
            </a:r>
            <a:r>
              <a:rPr lang="en-US" sz="2800" dirty="0" smtClean="0">
                <a:solidFill>
                  <a:srgbClr val="FF0000"/>
                </a:solidFill>
              </a:rPr>
              <a:t>concept.</a:t>
            </a:r>
            <a:endParaRPr lang="en-US" sz="28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Techniques </a:t>
            </a:r>
            <a:r>
              <a:rPr lang="en-US" sz="2800" dirty="0"/>
              <a:t>vary in amount of change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BPA – small change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BPI – moderate change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BPR – significant change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Additional </a:t>
            </a:r>
            <a:r>
              <a:rPr lang="en-US" sz="2800" dirty="0"/>
              <a:t>information </a:t>
            </a:r>
            <a:r>
              <a:rPr lang="en-US" sz="2800" dirty="0" smtClean="0"/>
              <a:t>gathering techniques </a:t>
            </a:r>
            <a:r>
              <a:rPr lang="en-US" sz="2800" dirty="0"/>
              <a:t>are needed as </a:t>
            </a:r>
            <a:r>
              <a:rPr lang="en-US" sz="2800" dirty="0" smtClean="0"/>
              <a:t>well.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096267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400" y="286603"/>
            <a:ext cx="11094720" cy="1450757"/>
          </a:xfrm>
        </p:spPr>
        <p:txBody>
          <a:bodyPr>
            <a:normAutofit/>
          </a:bodyPr>
          <a:lstStyle/>
          <a:p>
            <a:pPr algn="ctr"/>
            <a:r>
              <a:rPr lang="vi-VN" sz="4400" dirty="0"/>
              <a:t>REQUIREMENTS </a:t>
            </a:r>
            <a:r>
              <a:rPr lang="vi-VN" sz="4400" dirty="0" smtClean="0"/>
              <a:t>ANALYSIS TECHNIQUES</a:t>
            </a:r>
            <a:endParaRPr lang="vi-VN" sz="4400" dirty="0"/>
          </a:p>
        </p:txBody>
      </p:sp>
    </p:spTree>
    <p:extLst>
      <p:ext uri="{BB962C8B-B14F-4D97-AF65-F5344CB8AC3E}">
        <p14:creationId xmlns:p14="http://schemas.microsoft.com/office/powerpoint/2010/main" val="15105855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Business Process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3364" y="1845734"/>
            <a:ext cx="6422315" cy="4023360"/>
          </a:xfrm>
        </p:spPr>
        <p:txBody>
          <a:bodyPr>
            <a:normAutofit/>
          </a:bodyPr>
          <a:lstStyle/>
          <a:p>
            <a:r>
              <a:rPr lang="vi-VN" sz="3200" dirty="0"/>
              <a:t>Goal:</a:t>
            </a:r>
          </a:p>
          <a:p>
            <a:r>
              <a:rPr lang="vi-VN" sz="3200" dirty="0" smtClean="0"/>
              <a:t>Efficiency for </a:t>
            </a:r>
            <a:r>
              <a:rPr lang="vi-VN" sz="3200" dirty="0"/>
              <a:t>users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778499"/>
            <a:ext cx="3260841" cy="4518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7253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Identifying Improvements in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As-Is Systems</a:t>
            </a:r>
            <a:endParaRPr lang="vi-V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Problem </a:t>
            </a:r>
            <a:r>
              <a:rPr lang="en-US" sz="2800" dirty="0">
                <a:solidFill>
                  <a:srgbClr val="FF0000"/>
                </a:solidFill>
              </a:rPr>
              <a:t>Analysis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Ask users to </a:t>
            </a:r>
            <a:r>
              <a:rPr lang="en-US" sz="2400" dirty="0">
                <a:solidFill>
                  <a:srgbClr val="0070C0"/>
                </a:solidFill>
              </a:rPr>
              <a:t>identify problems and </a:t>
            </a:r>
            <a:r>
              <a:rPr lang="en-US" sz="2400" dirty="0" smtClean="0">
                <a:solidFill>
                  <a:srgbClr val="0070C0"/>
                </a:solidFill>
              </a:rPr>
              <a:t>solutions</a:t>
            </a:r>
            <a:r>
              <a:rPr lang="en-US" sz="2400" dirty="0" smtClean="0"/>
              <a:t>.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Improvements tend to be small </a:t>
            </a:r>
            <a:r>
              <a:rPr lang="en-US" sz="2400" dirty="0" smtClean="0"/>
              <a:t>and incremental.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Rarely finds improvements with </a:t>
            </a:r>
            <a:r>
              <a:rPr lang="en-US" sz="2400" dirty="0" smtClean="0"/>
              <a:t>significant business value.</a:t>
            </a:r>
            <a:endParaRPr lang="en-US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Root </a:t>
            </a:r>
            <a:r>
              <a:rPr lang="en-US" sz="2800" dirty="0">
                <a:solidFill>
                  <a:srgbClr val="FF0000"/>
                </a:solidFill>
              </a:rPr>
              <a:t>Cause Analysis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Challenge assumptions about why </a:t>
            </a:r>
            <a:r>
              <a:rPr lang="en-US" sz="2400" dirty="0" smtClean="0"/>
              <a:t>problem exists.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Trace symptoms to their causes to </a:t>
            </a:r>
            <a:r>
              <a:rPr lang="en-US" sz="2400" dirty="0" smtClean="0"/>
              <a:t>discover the “real</a:t>
            </a:r>
            <a:r>
              <a:rPr lang="en-US" sz="2400" dirty="0"/>
              <a:t>” </a:t>
            </a:r>
            <a:r>
              <a:rPr lang="en-US" sz="2400" dirty="0" smtClean="0"/>
              <a:t>problem.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176968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Root Cause Analysis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083" y="1845734"/>
            <a:ext cx="7330793" cy="442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436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Business Process Improvement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0898" y="1845734"/>
            <a:ext cx="6844782" cy="4023360"/>
          </a:xfrm>
        </p:spPr>
        <p:txBody>
          <a:bodyPr>
            <a:normAutofit/>
          </a:bodyPr>
          <a:lstStyle/>
          <a:p>
            <a:r>
              <a:rPr lang="en-US" sz="3200" dirty="0"/>
              <a:t>Goal:</a:t>
            </a:r>
          </a:p>
          <a:p>
            <a:r>
              <a:rPr lang="en-US" sz="3200" dirty="0" smtClean="0"/>
              <a:t>Efficiency and effectiveness for users.</a:t>
            </a:r>
            <a:endParaRPr lang="vi-VN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5734"/>
            <a:ext cx="3213618" cy="4491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87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Duration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Calculate </a:t>
            </a:r>
            <a:r>
              <a:rPr lang="en-US" sz="2800" dirty="0"/>
              <a:t>time needed for each process </a:t>
            </a:r>
            <a:r>
              <a:rPr lang="en-US" sz="2800" dirty="0" smtClean="0"/>
              <a:t>step.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Calculate </a:t>
            </a:r>
            <a:r>
              <a:rPr lang="en-US" sz="2800" dirty="0"/>
              <a:t>time needed for overall </a:t>
            </a:r>
            <a:r>
              <a:rPr lang="en-US" sz="2800" dirty="0" smtClean="0"/>
              <a:t>process.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Compare </a:t>
            </a:r>
            <a:r>
              <a:rPr lang="en-US" sz="2800" dirty="0"/>
              <a:t>the two – </a:t>
            </a:r>
            <a:r>
              <a:rPr lang="en-US" sz="2800" dirty="0">
                <a:solidFill>
                  <a:srgbClr val="FF0000"/>
                </a:solidFill>
              </a:rPr>
              <a:t>a large difference </a:t>
            </a:r>
            <a:r>
              <a:rPr lang="en-US" sz="2800" dirty="0" smtClean="0">
                <a:solidFill>
                  <a:srgbClr val="FF0000"/>
                </a:solidFill>
              </a:rPr>
              <a:t>indicates a </a:t>
            </a:r>
            <a:r>
              <a:rPr lang="en-US" sz="2800" dirty="0">
                <a:solidFill>
                  <a:srgbClr val="FF0000"/>
                </a:solidFill>
              </a:rPr>
              <a:t>badly fragmented </a:t>
            </a:r>
            <a:r>
              <a:rPr lang="en-US" sz="2800" dirty="0" smtClean="0">
                <a:solidFill>
                  <a:srgbClr val="FF0000"/>
                </a:solidFill>
              </a:rPr>
              <a:t>process</a:t>
            </a:r>
            <a:r>
              <a:rPr lang="en-US" sz="2800" dirty="0" smtClean="0"/>
              <a:t>.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Potential solutions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Process integration – change the process to </a:t>
            </a:r>
            <a:r>
              <a:rPr lang="en-US" sz="2400" dirty="0" smtClean="0"/>
              <a:t>use fewer </a:t>
            </a:r>
            <a:r>
              <a:rPr lang="en-US" sz="2400" dirty="0"/>
              <a:t>people, each with broader </a:t>
            </a:r>
            <a:r>
              <a:rPr lang="en-US" sz="2400" dirty="0" smtClean="0"/>
              <a:t>responsibilities.</a:t>
            </a:r>
            <a:endParaRPr lang="en-US" sz="24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Parallelization – change the process so </a:t>
            </a:r>
            <a:r>
              <a:rPr lang="en-US" sz="2400" dirty="0" smtClean="0"/>
              <a:t>that individual </a:t>
            </a:r>
            <a:r>
              <a:rPr lang="en-US" sz="2400" dirty="0"/>
              <a:t>step are performed </a:t>
            </a:r>
            <a:r>
              <a:rPr lang="en-US" sz="2400" dirty="0" smtClean="0"/>
              <a:t>simultaneously.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741684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Activity-Based Costing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Calculate </a:t>
            </a:r>
            <a:r>
              <a:rPr lang="en-US" sz="3200" dirty="0"/>
              <a:t>cost of each process </a:t>
            </a:r>
            <a:r>
              <a:rPr lang="en-US" sz="3200" dirty="0" smtClean="0"/>
              <a:t>step.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Consider </a:t>
            </a:r>
            <a:r>
              <a:rPr lang="en-US" sz="3200" dirty="0"/>
              <a:t>both direct and </a:t>
            </a:r>
            <a:r>
              <a:rPr lang="en-US" sz="3200" dirty="0" smtClean="0"/>
              <a:t>indirect costs.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Identify </a:t>
            </a:r>
            <a:r>
              <a:rPr lang="en-US" sz="3200" dirty="0"/>
              <a:t>most costly steps and </a:t>
            </a:r>
            <a:r>
              <a:rPr lang="en-US" sz="3200" dirty="0" smtClean="0"/>
              <a:t>focus improvement </a:t>
            </a:r>
            <a:r>
              <a:rPr lang="en-US" sz="3200" dirty="0"/>
              <a:t>efforts on </a:t>
            </a:r>
            <a:r>
              <a:rPr lang="en-US" sz="3200" dirty="0" smtClean="0"/>
              <a:t>them.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2353197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Business Process Reengineering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4486" y="1845734"/>
            <a:ext cx="6991193" cy="4023360"/>
          </a:xfrm>
        </p:spPr>
        <p:txBody>
          <a:bodyPr>
            <a:normAutofit/>
          </a:bodyPr>
          <a:lstStyle/>
          <a:p>
            <a:r>
              <a:rPr lang="en-US" sz="3200" dirty="0"/>
              <a:t>Goal:</a:t>
            </a:r>
          </a:p>
          <a:p>
            <a:r>
              <a:rPr lang="en-US" sz="3200" dirty="0" smtClean="0"/>
              <a:t>Radical redesign of business processes.</a:t>
            </a:r>
            <a:endParaRPr lang="vi-VN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45734"/>
            <a:ext cx="3067207" cy="4420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8419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Outcome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Consider </a:t>
            </a:r>
            <a:r>
              <a:rPr lang="en-US" sz="3200" dirty="0">
                <a:solidFill>
                  <a:srgbClr val="FF0000"/>
                </a:solidFill>
              </a:rPr>
              <a:t>desirable outcomes </a:t>
            </a:r>
            <a:r>
              <a:rPr lang="en-US" sz="3200" dirty="0" smtClean="0">
                <a:solidFill>
                  <a:srgbClr val="FF0000"/>
                </a:solidFill>
              </a:rPr>
              <a:t>from customers</a:t>
            </a:r>
            <a:r>
              <a:rPr lang="en-US" sz="3200" dirty="0">
                <a:solidFill>
                  <a:srgbClr val="FF0000"/>
                </a:solidFill>
              </a:rPr>
              <a:t>’ </a:t>
            </a:r>
            <a:r>
              <a:rPr lang="en-US" sz="3200" dirty="0" smtClean="0">
                <a:solidFill>
                  <a:srgbClr val="FF0000"/>
                </a:solidFill>
              </a:rPr>
              <a:t>perspective</a:t>
            </a:r>
            <a:r>
              <a:rPr lang="en-US" sz="3200" dirty="0" smtClean="0"/>
              <a:t>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Consider </a:t>
            </a:r>
            <a:r>
              <a:rPr lang="en-US" sz="3200" dirty="0">
                <a:solidFill>
                  <a:srgbClr val="FF0000"/>
                </a:solidFill>
              </a:rPr>
              <a:t>what the </a:t>
            </a:r>
            <a:r>
              <a:rPr lang="en-US" sz="3200" dirty="0" smtClean="0">
                <a:solidFill>
                  <a:srgbClr val="FF0000"/>
                </a:solidFill>
              </a:rPr>
              <a:t>organization could </a:t>
            </a:r>
            <a:r>
              <a:rPr lang="en-US" sz="3200" dirty="0">
                <a:solidFill>
                  <a:srgbClr val="FF0000"/>
                </a:solidFill>
              </a:rPr>
              <a:t>enable the customer to </a:t>
            </a:r>
            <a:r>
              <a:rPr lang="en-US" sz="3200" dirty="0" smtClean="0">
                <a:solidFill>
                  <a:srgbClr val="FF0000"/>
                </a:solidFill>
              </a:rPr>
              <a:t>do</a:t>
            </a:r>
            <a:r>
              <a:rPr lang="en-US" sz="3200" dirty="0" smtClean="0"/>
              <a:t>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39453598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Technology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Analysts </a:t>
            </a:r>
            <a:r>
              <a:rPr lang="en-US" sz="3200" dirty="0"/>
              <a:t>list important </a:t>
            </a:r>
            <a:r>
              <a:rPr lang="en-US" sz="3200" dirty="0" smtClean="0"/>
              <a:t>and interesting technologies.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Managers </a:t>
            </a:r>
            <a:r>
              <a:rPr lang="en-US" sz="3200" dirty="0"/>
              <a:t>list important </a:t>
            </a:r>
            <a:r>
              <a:rPr lang="en-US" sz="3200" dirty="0" smtClean="0"/>
              <a:t>and interesting technologies.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The </a:t>
            </a:r>
            <a:r>
              <a:rPr lang="en-US" sz="3200" dirty="0"/>
              <a:t>group identifies how each </a:t>
            </a:r>
            <a:r>
              <a:rPr lang="en-US" sz="3200" dirty="0" smtClean="0"/>
              <a:t>might be </a:t>
            </a:r>
            <a:r>
              <a:rPr lang="en-US" sz="3200" dirty="0"/>
              <a:t>applied to the business and </a:t>
            </a:r>
            <a:r>
              <a:rPr lang="en-US" sz="3200" dirty="0" smtClean="0"/>
              <a:t>how the </a:t>
            </a:r>
            <a:r>
              <a:rPr lang="en-US" sz="3200" dirty="0"/>
              <a:t>business might </a:t>
            </a:r>
            <a:r>
              <a:rPr lang="en-US" sz="3200" dirty="0" smtClean="0"/>
              <a:t>benefit.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509052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Comparing Analysis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Potential </a:t>
            </a:r>
            <a:r>
              <a:rPr lang="en-US" sz="3200" dirty="0"/>
              <a:t>business value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Project </a:t>
            </a:r>
            <a:r>
              <a:rPr lang="en-US" sz="3200" dirty="0"/>
              <a:t>cost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Breadth </a:t>
            </a:r>
            <a:r>
              <a:rPr lang="en-US" sz="3200" dirty="0"/>
              <a:t>of analysis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Risk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88664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17" y="286603"/>
            <a:ext cx="10469880" cy="1450757"/>
          </a:xfrm>
        </p:spPr>
        <p:txBody>
          <a:bodyPr>
            <a:normAutofit/>
          </a:bodyPr>
          <a:lstStyle/>
          <a:p>
            <a:pPr algn="ctr"/>
            <a:r>
              <a:rPr lang="vi-VN" sz="4000" dirty="0" smtClean="0"/>
              <a:t>REQUIREMENTS-GATHERING TECHNIQUES</a:t>
            </a:r>
            <a:endParaRPr lang="vi-VN" sz="4000" dirty="0"/>
          </a:p>
        </p:txBody>
      </p:sp>
    </p:spTree>
    <p:extLst>
      <p:ext uri="{BB962C8B-B14F-4D97-AF65-F5344CB8AC3E}">
        <p14:creationId xmlns:p14="http://schemas.microsoft.com/office/powerpoint/2010/main" val="2096365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Interviews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Most </a:t>
            </a:r>
            <a:r>
              <a:rPr lang="en-US" sz="3200" dirty="0"/>
              <a:t>commonly used </a:t>
            </a:r>
            <a:r>
              <a:rPr lang="en-US" sz="3200" dirty="0" smtClean="0"/>
              <a:t>technique.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Basic </a:t>
            </a:r>
            <a:r>
              <a:rPr lang="en-US" sz="3200" dirty="0"/>
              <a:t>steps: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</a:rPr>
              <a:t>Selecting</a:t>
            </a:r>
            <a:r>
              <a:rPr lang="en-US" sz="2800" dirty="0"/>
              <a:t> </a:t>
            </a:r>
            <a:r>
              <a:rPr lang="en-US" sz="2800" dirty="0" smtClean="0"/>
              <a:t>Interviewees.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</a:rPr>
              <a:t>Designing</a:t>
            </a:r>
            <a:r>
              <a:rPr lang="en-US" sz="2800" dirty="0"/>
              <a:t> Interview </a:t>
            </a:r>
            <a:r>
              <a:rPr lang="en-US" sz="2800" dirty="0" smtClean="0"/>
              <a:t>Questions.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</a:rPr>
              <a:t>Preparing</a:t>
            </a:r>
            <a:r>
              <a:rPr lang="en-US" sz="2800" dirty="0"/>
              <a:t> for the </a:t>
            </a:r>
            <a:r>
              <a:rPr lang="en-US" sz="2800" dirty="0" smtClean="0"/>
              <a:t>Interview.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>
                <a:solidFill>
                  <a:srgbClr val="FF0000"/>
                </a:solidFill>
              </a:rPr>
              <a:t>Conducting</a:t>
            </a:r>
            <a:r>
              <a:rPr lang="en-US" sz="2800" dirty="0"/>
              <a:t> the </a:t>
            </a:r>
            <a:r>
              <a:rPr lang="en-US" sz="2800" dirty="0" smtClean="0"/>
              <a:t>Interview.</a:t>
            </a:r>
            <a:endParaRPr lang="en-US" sz="2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Post-Interview </a:t>
            </a:r>
            <a:r>
              <a:rPr lang="en-US" sz="2800" dirty="0" smtClean="0"/>
              <a:t>Follow-up.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267567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Selecting Interviewees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Based </a:t>
            </a:r>
            <a:r>
              <a:rPr lang="en-US" sz="3200" dirty="0"/>
              <a:t>on information </a:t>
            </a:r>
            <a:r>
              <a:rPr lang="en-US" sz="3200" dirty="0" smtClean="0"/>
              <a:t>needs.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Best </a:t>
            </a:r>
            <a:r>
              <a:rPr lang="en-US" sz="3200" dirty="0"/>
              <a:t>to get different </a:t>
            </a:r>
            <a:r>
              <a:rPr lang="en-US" sz="3200" dirty="0" smtClean="0"/>
              <a:t>perspectives.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Managers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Users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Ideally, all key stakeholders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Keep </a:t>
            </a:r>
            <a:r>
              <a:rPr lang="en-US" sz="3200" dirty="0"/>
              <a:t>organizational politics in </a:t>
            </a:r>
            <a:r>
              <a:rPr lang="en-US" sz="3200" dirty="0" smtClean="0"/>
              <a:t>mind.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5007792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Three Types of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090" y="1845734"/>
            <a:ext cx="8920779" cy="4448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244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Designing Interview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Unstructured </a:t>
            </a:r>
            <a:r>
              <a:rPr lang="en-US" sz="3200" dirty="0">
                <a:solidFill>
                  <a:srgbClr val="FF0000"/>
                </a:solidFill>
              </a:rPr>
              <a:t>interview</a:t>
            </a:r>
            <a:r>
              <a:rPr lang="en-US" sz="3200" dirty="0"/>
              <a:t> useful </a:t>
            </a:r>
            <a:r>
              <a:rPr lang="en-US" sz="3200" dirty="0" smtClean="0"/>
              <a:t>early in </a:t>
            </a:r>
            <a:r>
              <a:rPr lang="en-US" sz="3200" dirty="0"/>
              <a:t>information </a:t>
            </a:r>
            <a:r>
              <a:rPr lang="en-US" sz="3200" dirty="0" smtClean="0"/>
              <a:t>gathering.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Goal is broad, roughly </a:t>
            </a:r>
            <a:r>
              <a:rPr lang="en-US" sz="2800" dirty="0" smtClean="0"/>
              <a:t>defined information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Structured </a:t>
            </a:r>
            <a:r>
              <a:rPr lang="en-US" sz="3200" dirty="0">
                <a:solidFill>
                  <a:srgbClr val="FF0000"/>
                </a:solidFill>
              </a:rPr>
              <a:t>interview</a:t>
            </a:r>
            <a:r>
              <a:rPr lang="en-US" sz="3200" dirty="0"/>
              <a:t> useful later </a:t>
            </a:r>
            <a:r>
              <a:rPr lang="en-US" sz="3200" dirty="0" smtClean="0"/>
              <a:t>in process.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Goal is very specific information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3846241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615108" cy="145075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Top-Down and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Bottom-up Questioning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Strategies</a:t>
            </a:r>
            <a:endParaRPr lang="vi-V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9979" y="1845734"/>
            <a:ext cx="7809710" cy="484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03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Preparing for the 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Prepare </a:t>
            </a:r>
            <a:r>
              <a:rPr lang="en-US" sz="2800" dirty="0"/>
              <a:t>general interview plan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List of question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Anticipated answers and follow-ups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Confirm </a:t>
            </a:r>
            <a:r>
              <a:rPr lang="en-US" sz="2800" dirty="0"/>
              <a:t>areas of knowledge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Set </a:t>
            </a:r>
            <a:r>
              <a:rPr lang="en-US" sz="2800" dirty="0"/>
              <a:t>priorities in case of time shortage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Prepare </a:t>
            </a:r>
            <a:r>
              <a:rPr lang="en-US" sz="2800" dirty="0"/>
              <a:t>the interviewee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Schedule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Inform of reason for interview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400" dirty="0"/>
              <a:t>Inform of areas of discussion</a:t>
            </a:r>
            <a:endParaRPr lang="vi-VN" sz="2400" dirty="0"/>
          </a:p>
        </p:txBody>
      </p:sp>
    </p:spTree>
    <p:extLst>
      <p:ext uri="{BB962C8B-B14F-4D97-AF65-F5344CB8AC3E}">
        <p14:creationId xmlns:p14="http://schemas.microsoft.com/office/powerpoint/2010/main" val="83316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Conducting the Interview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Appear </a:t>
            </a:r>
            <a:r>
              <a:rPr lang="en-US" sz="2800" dirty="0"/>
              <a:t>professional and unbiased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Record </a:t>
            </a:r>
            <a:r>
              <a:rPr lang="en-US" sz="2800" dirty="0"/>
              <a:t>all information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Check </a:t>
            </a:r>
            <a:r>
              <a:rPr lang="en-US" sz="2800" dirty="0"/>
              <a:t>on organizational policy regarding </a:t>
            </a:r>
            <a:r>
              <a:rPr lang="en-US" sz="2800" dirty="0" smtClean="0"/>
              <a:t>tape recording</a:t>
            </a:r>
            <a:endParaRPr lang="en-US" sz="2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Be </a:t>
            </a:r>
            <a:r>
              <a:rPr lang="en-US" sz="2800" dirty="0"/>
              <a:t>sure you understand all issues and terms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Separate </a:t>
            </a:r>
            <a:r>
              <a:rPr lang="en-US" sz="2800" dirty="0"/>
              <a:t>facts from opinions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Give </a:t>
            </a:r>
            <a:r>
              <a:rPr lang="en-US" sz="2800" dirty="0"/>
              <a:t>interviewee time to ask questions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Be </a:t>
            </a:r>
            <a:r>
              <a:rPr lang="en-US" sz="2800" dirty="0"/>
              <a:t>sure to thank the interviewee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End </a:t>
            </a:r>
            <a:r>
              <a:rPr lang="en-US" sz="2800" dirty="0"/>
              <a:t>on time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41249390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Post-Interview Follow-Up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Prepare </a:t>
            </a:r>
            <a:r>
              <a:rPr lang="en-US" sz="3200" dirty="0"/>
              <a:t>interview </a:t>
            </a:r>
            <a:r>
              <a:rPr lang="en-US" sz="3200" dirty="0" smtClean="0"/>
              <a:t>notes.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Prepare </a:t>
            </a:r>
            <a:r>
              <a:rPr lang="en-US" sz="3200" dirty="0"/>
              <a:t>interview </a:t>
            </a:r>
            <a:r>
              <a:rPr lang="en-US" sz="3200" dirty="0" smtClean="0"/>
              <a:t>report.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Have </a:t>
            </a:r>
            <a:r>
              <a:rPr lang="en-US" sz="3200" dirty="0"/>
              <a:t>interviewee review </a:t>
            </a:r>
            <a:r>
              <a:rPr lang="en-US" sz="3200" dirty="0" smtClean="0"/>
              <a:t>and confirm </a:t>
            </a:r>
            <a:r>
              <a:rPr lang="en-US" sz="3200" dirty="0"/>
              <a:t>interview </a:t>
            </a:r>
            <a:r>
              <a:rPr lang="en-US" sz="3200" dirty="0" smtClean="0"/>
              <a:t>report.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Look </a:t>
            </a:r>
            <a:r>
              <a:rPr lang="en-US" sz="3200" dirty="0"/>
              <a:t>for gaps and new </a:t>
            </a:r>
            <a:r>
              <a:rPr lang="en-US" sz="3200" dirty="0" smtClean="0"/>
              <a:t>questions.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33420853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Joint Application Development (JAD)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A </a:t>
            </a:r>
            <a:r>
              <a:rPr lang="en-US" sz="3200" dirty="0"/>
              <a:t>structured group process </a:t>
            </a:r>
            <a:r>
              <a:rPr lang="en-US" sz="3200" dirty="0" smtClean="0"/>
              <a:t>focused on </a:t>
            </a:r>
            <a:r>
              <a:rPr lang="en-US" sz="3200" dirty="0"/>
              <a:t>determining </a:t>
            </a:r>
            <a:r>
              <a:rPr lang="en-US" sz="3200" dirty="0" smtClean="0"/>
              <a:t>requirements.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Involves </a:t>
            </a:r>
            <a:r>
              <a:rPr lang="en-US" sz="3200" dirty="0">
                <a:solidFill>
                  <a:srgbClr val="FF0000"/>
                </a:solidFill>
              </a:rPr>
              <a:t>project team, users, </a:t>
            </a:r>
            <a:r>
              <a:rPr lang="en-US" sz="3200" dirty="0" smtClean="0">
                <a:solidFill>
                  <a:srgbClr val="FF0000"/>
                </a:solidFill>
              </a:rPr>
              <a:t>and management </a:t>
            </a:r>
            <a:r>
              <a:rPr lang="en-US" sz="3200" dirty="0">
                <a:solidFill>
                  <a:srgbClr val="FF0000"/>
                </a:solidFill>
              </a:rPr>
              <a:t>working </a:t>
            </a:r>
            <a:r>
              <a:rPr lang="en-US" sz="3200" dirty="0" smtClean="0">
                <a:solidFill>
                  <a:srgbClr val="FF0000"/>
                </a:solidFill>
              </a:rPr>
              <a:t>together.</a:t>
            </a:r>
            <a:endParaRPr lang="en-US" sz="3200" dirty="0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May reduce scope creep by 50%.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Very </a:t>
            </a:r>
            <a:r>
              <a:rPr lang="en-US" sz="3200" dirty="0"/>
              <a:t>useful </a:t>
            </a:r>
            <a:r>
              <a:rPr lang="en-US" sz="3200" dirty="0" smtClean="0"/>
              <a:t>technique.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775573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JAD Participants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Facilitator</a:t>
            </a:r>
            <a:endParaRPr lang="en-US" sz="32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Trained in JAD techniques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Sets agenda and guides group processes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Scribe(s</a:t>
            </a:r>
            <a:r>
              <a:rPr lang="en-US" sz="3200" dirty="0"/>
              <a:t>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2800" dirty="0"/>
              <a:t>Record content of JAD sessions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/>
              <a:t>Users and managers from business </a:t>
            </a:r>
            <a:r>
              <a:rPr lang="en-US" sz="3200" dirty="0" smtClean="0"/>
              <a:t>area with </a:t>
            </a:r>
            <a:r>
              <a:rPr lang="en-US" sz="3200" dirty="0"/>
              <a:t>broad and detailed knowledge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148462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JAD Meeting Room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5727" y="1694836"/>
            <a:ext cx="6132059" cy="516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135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Conducting the JAD Session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Formal </a:t>
            </a:r>
            <a:r>
              <a:rPr lang="en-US" sz="2800" dirty="0"/>
              <a:t>agenda and ground rules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Top-down </a:t>
            </a:r>
            <a:r>
              <a:rPr lang="en-US" sz="2800" dirty="0"/>
              <a:t>structure most successful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Facilitator </a:t>
            </a:r>
            <a:r>
              <a:rPr lang="en-US" sz="2800" dirty="0"/>
              <a:t>activities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Keep </a:t>
            </a:r>
            <a:r>
              <a:rPr lang="en-US" sz="2800" dirty="0"/>
              <a:t>session on track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Help </a:t>
            </a:r>
            <a:r>
              <a:rPr lang="en-US" sz="2800" dirty="0"/>
              <a:t>with technical terms and jargon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Record </a:t>
            </a:r>
            <a:r>
              <a:rPr lang="en-US" sz="2800" dirty="0"/>
              <a:t>group input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Stay </a:t>
            </a:r>
            <a:r>
              <a:rPr lang="en-US" sz="2800" dirty="0"/>
              <a:t>neutral, but help resolve issues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800" dirty="0" smtClean="0"/>
              <a:t> Post-session </a:t>
            </a:r>
            <a:r>
              <a:rPr lang="en-US" sz="2800" dirty="0"/>
              <a:t>follow-up report</a:t>
            </a:r>
            <a:endParaRPr lang="vi-VN" sz="2800" dirty="0"/>
          </a:p>
        </p:txBody>
      </p:sp>
    </p:spTree>
    <p:extLst>
      <p:ext uri="{BB962C8B-B14F-4D97-AF65-F5344CB8AC3E}">
        <p14:creationId xmlns:p14="http://schemas.microsoft.com/office/powerpoint/2010/main" val="10859816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Post JAD Follow-up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Post session </a:t>
            </a:r>
            <a:r>
              <a:rPr lang="en-US" sz="3200" dirty="0"/>
              <a:t>report is prepared </a:t>
            </a:r>
            <a:r>
              <a:rPr lang="en-US" sz="3200" dirty="0" smtClean="0"/>
              <a:t>and circulated </a:t>
            </a:r>
            <a:r>
              <a:rPr lang="en-US" sz="3200" dirty="0"/>
              <a:t>among session </a:t>
            </a:r>
            <a:r>
              <a:rPr lang="en-US" sz="3200" dirty="0" smtClean="0"/>
              <a:t>attendees.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The </a:t>
            </a:r>
            <a:r>
              <a:rPr lang="en-US" sz="3200" dirty="0"/>
              <a:t>report should be </a:t>
            </a:r>
            <a:r>
              <a:rPr lang="en-US" sz="3200" dirty="0" smtClean="0"/>
              <a:t>completed approximately </a:t>
            </a:r>
            <a:r>
              <a:rPr lang="en-US" sz="3200" dirty="0"/>
              <a:t>a week to two </a:t>
            </a:r>
            <a:r>
              <a:rPr lang="en-US" sz="3200" dirty="0" smtClean="0"/>
              <a:t>after the </a:t>
            </a:r>
            <a:r>
              <a:rPr lang="en-US" sz="3200" dirty="0"/>
              <a:t>JAD </a:t>
            </a:r>
            <a:r>
              <a:rPr lang="en-US" sz="3200" dirty="0" smtClean="0"/>
              <a:t>session.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5459675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Questionnaires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A </a:t>
            </a:r>
            <a:r>
              <a:rPr lang="en-US" sz="3200" dirty="0"/>
              <a:t>set of written questions, often </a:t>
            </a:r>
            <a:r>
              <a:rPr lang="en-US" sz="3200" dirty="0">
                <a:solidFill>
                  <a:srgbClr val="FF0000"/>
                </a:solidFill>
              </a:rPr>
              <a:t>sent to a </a:t>
            </a:r>
            <a:r>
              <a:rPr lang="en-US" sz="3200" dirty="0" smtClean="0">
                <a:solidFill>
                  <a:srgbClr val="FF0000"/>
                </a:solidFill>
              </a:rPr>
              <a:t>large number </a:t>
            </a:r>
            <a:r>
              <a:rPr lang="en-US" sz="3200" dirty="0">
                <a:solidFill>
                  <a:srgbClr val="FF0000"/>
                </a:solidFill>
              </a:rPr>
              <a:t>of </a:t>
            </a:r>
            <a:r>
              <a:rPr lang="en-US" sz="3200" dirty="0" smtClean="0">
                <a:solidFill>
                  <a:srgbClr val="FF0000"/>
                </a:solidFill>
              </a:rPr>
              <a:t>people</a:t>
            </a:r>
            <a:r>
              <a:rPr lang="en-US" sz="3200" dirty="0" smtClean="0"/>
              <a:t>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May </a:t>
            </a:r>
            <a:r>
              <a:rPr lang="en-US" sz="3200" dirty="0"/>
              <a:t>be paper-based or </a:t>
            </a:r>
            <a:r>
              <a:rPr lang="en-US" sz="3200" dirty="0" smtClean="0"/>
              <a:t>electronic.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Select </a:t>
            </a:r>
            <a:r>
              <a:rPr lang="en-US" sz="3200" dirty="0"/>
              <a:t>participants using samples of </a:t>
            </a:r>
            <a:r>
              <a:rPr lang="en-US" sz="3200" dirty="0" smtClean="0"/>
              <a:t>the population.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Design </a:t>
            </a:r>
            <a:r>
              <a:rPr lang="en-US" sz="3200" dirty="0"/>
              <a:t>the questions for </a:t>
            </a:r>
            <a:r>
              <a:rPr lang="en-US" sz="3200" dirty="0">
                <a:solidFill>
                  <a:srgbClr val="FF0000"/>
                </a:solidFill>
              </a:rPr>
              <a:t>clarity and ease </a:t>
            </a:r>
            <a:r>
              <a:rPr lang="en-US" sz="3200" dirty="0" smtClean="0">
                <a:solidFill>
                  <a:srgbClr val="FF0000"/>
                </a:solidFill>
              </a:rPr>
              <a:t>of analysis</a:t>
            </a:r>
            <a:r>
              <a:rPr lang="en-US" sz="3200" dirty="0" smtClean="0"/>
              <a:t>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Administer </a:t>
            </a:r>
            <a:r>
              <a:rPr lang="en-US" sz="3200" dirty="0"/>
              <a:t>the questionnaire and take steps </a:t>
            </a:r>
            <a:r>
              <a:rPr lang="en-US" sz="3200" dirty="0" smtClean="0"/>
              <a:t>to get </a:t>
            </a:r>
            <a:r>
              <a:rPr lang="en-US" sz="3200" dirty="0"/>
              <a:t>a good response </a:t>
            </a:r>
            <a:r>
              <a:rPr lang="en-US" sz="3200" dirty="0" smtClean="0"/>
              <a:t>rate.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Questionnaire </a:t>
            </a:r>
            <a:r>
              <a:rPr lang="en-US" sz="3200" dirty="0"/>
              <a:t>follow-up </a:t>
            </a:r>
            <a:r>
              <a:rPr lang="en-US" sz="3200" dirty="0" smtClean="0"/>
              <a:t>report.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8830765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Good Questionnaire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812" y="1737360"/>
            <a:ext cx="8823336" cy="4703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2257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Document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Study </a:t>
            </a:r>
            <a:r>
              <a:rPr lang="en-US" sz="3200" dirty="0"/>
              <a:t>of </a:t>
            </a:r>
            <a:r>
              <a:rPr lang="en-US" sz="3200" dirty="0">
                <a:solidFill>
                  <a:srgbClr val="FF0000"/>
                </a:solidFill>
              </a:rPr>
              <a:t>existing material describing </a:t>
            </a:r>
            <a:r>
              <a:rPr lang="en-US" sz="3200" dirty="0" smtClean="0">
                <a:solidFill>
                  <a:srgbClr val="FF0000"/>
                </a:solidFill>
              </a:rPr>
              <a:t>the current system</a:t>
            </a:r>
            <a:r>
              <a:rPr lang="en-US" sz="3200" dirty="0" smtClean="0"/>
              <a:t>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Forms</a:t>
            </a:r>
            <a:r>
              <a:rPr lang="en-US" sz="3200" dirty="0"/>
              <a:t>, reports, policy manuals, </a:t>
            </a:r>
            <a:r>
              <a:rPr lang="en-US" sz="3200" dirty="0" smtClean="0"/>
              <a:t>organization charts </a:t>
            </a:r>
            <a:r>
              <a:rPr lang="en-US" sz="3200" dirty="0"/>
              <a:t>describe the formal </a:t>
            </a:r>
            <a:r>
              <a:rPr lang="en-US" sz="3200" dirty="0" smtClean="0"/>
              <a:t>system.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Look </a:t>
            </a:r>
            <a:r>
              <a:rPr lang="en-US" sz="3200" dirty="0"/>
              <a:t>for the informal system in user </a:t>
            </a:r>
            <a:r>
              <a:rPr lang="en-US" sz="3200" dirty="0" smtClean="0"/>
              <a:t>additions to </a:t>
            </a:r>
            <a:r>
              <a:rPr lang="en-US" sz="3200" dirty="0"/>
              <a:t>forms/report and unused </a:t>
            </a:r>
            <a:r>
              <a:rPr lang="en-US" sz="3200" dirty="0" smtClean="0"/>
              <a:t>form/report elements.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User </a:t>
            </a:r>
            <a:r>
              <a:rPr lang="en-US" sz="3200" dirty="0"/>
              <a:t>changes to existing forms/reports or </a:t>
            </a:r>
            <a:r>
              <a:rPr lang="en-US" sz="3200" dirty="0" smtClean="0"/>
              <a:t>nonuse of </a:t>
            </a:r>
            <a:r>
              <a:rPr lang="en-US" sz="3200" dirty="0"/>
              <a:t>existing forms/reports suggest </a:t>
            </a:r>
            <a:r>
              <a:rPr lang="en-US" sz="3200" dirty="0" smtClean="0"/>
              <a:t>the system </a:t>
            </a:r>
            <a:r>
              <a:rPr lang="en-US" sz="3200" dirty="0"/>
              <a:t>needs </a:t>
            </a:r>
            <a:r>
              <a:rPr lang="en-US" sz="3200" dirty="0" smtClean="0"/>
              <a:t>modification.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22998105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Observation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Watch </a:t>
            </a:r>
            <a:r>
              <a:rPr lang="en-US" sz="3200" dirty="0">
                <a:solidFill>
                  <a:srgbClr val="FF0000"/>
                </a:solidFill>
              </a:rPr>
              <a:t>processes being </a:t>
            </a:r>
            <a:r>
              <a:rPr lang="en-US" sz="3200" dirty="0" smtClean="0">
                <a:solidFill>
                  <a:srgbClr val="FF0000"/>
                </a:solidFill>
              </a:rPr>
              <a:t>performed</a:t>
            </a:r>
            <a:r>
              <a:rPr lang="en-US" sz="3200" dirty="0" smtClean="0"/>
              <a:t>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</a:t>
            </a:r>
            <a:r>
              <a:rPr lang="en-US" sz="3200" dirty="0" smtClean="0">
                <a:solidFill>
                  <a:srgbClr val="FF0000"/>
                </a:solidFill>
              </a:rPr>
              <a:t>Users/managers </a:t>
            </a:r>
            <a:r>
              <a:rPr lang="en-US" sz="3200" dirty="0">
                <a:solidFill>
                  <a:srgbClr val="FF0000"/>
                </a:solidFill>
              </a:rPr>
              <a:t>often don’t accurately </a:t>
            </a:r>
            <a:r>
              <a:rPr lang="en-US" sz="3200" dirty="0" smtClean="0">
                <a:solidFill>
                  <a:srgbClr val="FF0000"/>
                </a:solidFill>
              </a:rPr>
              <a:t>recall everything </a:t>
            </a:r>
            <a:r>
              <a:rPr lang="en-US" sz="3200" dirty="0">
                <a:solidFill>
                  <a:srgbClr val="FF0000"/>
                </a:solidFill>
              </a:rPr>
              <a:t>they </a:t>
            </a:r>
            <a:r>
              <a:rPr lang="en-US" sz="3200" dirty="0" smtClean="0">
                <a:solidFill>
                  <a:srgbClr val="FF0000"/>
                </a:solidFill>
              </a:rPr>
              <a:t>do</a:t>
            </a:r>
            <a:r>
              <a:rPr lang="en-US" sz="3200" dirty="0" smtClean="0"/>
              <a:t>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Checks </a:t>
            </a:r>
            <a:r>
              <a:rPr lang="en-US" sz="3200" dirty="0"/>
              <a:t>validity of information gathered </a:t>
            </a:r>
            <a:r>
              <a:rPr lang="en-US" sz="3200" dirty="0" smtClean="0"/>
              <a:t>other ways.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Be </a:t>
            </a:r>
            <a:r>
              <a:rPr lang="en-US" sz="3200" dirty="0"/>
              <a:t>aware that behaviors change when </a:t>
            </a:r>
            <a:r>
              <a:rPr lang="en-US" sz="3200" dirty="0" smtClean="0"/>
              <a:t>people are watched.</a:t>
            </a:r>
            <a:endParaRPr lang="en-US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sz="3200" dirty="0" smtClean="0"/>
              <a:t> Be unobtrusive.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3200" smtClean="0"/>
              <a:t> Identify </a:t>
            </a:r>
            <a:r>
              <a:rPr lang="en-US" sz="3200" dirty="0"/>
              <a:t>peak and lull </a:t>
            </a:r>
            <a:r>
              <a:rPr lang="en-US" sz="3200" dirty="0" smtClean="0"/>
              <a:t>periods.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val="374625705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181</TotalTime>
  <Words>1153</Words>
  <Application>Microsoft Office PowerPoint</Application>
  <PresentationFormat>Widescreen</PresentationFormat>
  <Paragraphs>179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3" baseType="lpstr">
      <vt:lpstr>Arial</vt:lpstr>
      <vt:lpstr>Calibri</vt:lpstr>
      <vt:lpstr>Calibri Light</vt:lpstr>
      <vt:lpstr>Times New Roman</vt:lpstr>
      <vt:lpstr>Wingdings</vt:lpstr>
      <vt:lpstr>Retrospect</vt:lpstr>
      <vt:lpstr>PowerPoint Presentation</vt:lpstr>
      <vt:lpstr>Key definitions</vt:lpstr>
      <vt:lpstr>Key Ideas</vt:lpstr>
      <vt:lpstr>What is a Requirement?</vt:lpstr>
      <vt:lpstr>Requirement Types</vt:lpstr>
      <vt:lpstr>Documenting Requirements</vt:lpstr>
      <vt:lpstr>Determining Requirements</vt:lpstr>
      <vt:lpstr>Determining Requirements</vt:lpstr>
      <vt:lpstr>REQUIREMENTS ANALYSIS TECHNIQUES</vt:lpstr>
      <vt:lpstr>Business Process Automation</vt:lpstr>
      <vt:lpstr>Identifying Improvements in As-Is Systems</vt:lpstr>
      <vt:lpstr>Root Cause Analysis Example</vt:lpstr>
      <vt:lpstr>Business Process Improvement</vt:lpstr>
      <vt:lpstr>Duration Analysis</vt:lpstr>
      <vt:lpstr>Activity-Based Costing</vt:lpstr>
      <vt:lpstr>Business Process Reengineering</vt:lpstr>
      <vt:lpstr>Outcome Analysis</vt:lpstr>
      <vt:lpstr>Technology Analysis</vt:lpstr>
      <vt:lpstr>Comparing Analysis Techniques</vt:lpstr>
      <vt:lpstr>REQUIREMENTS-GATHERING TECHNIQUES</vt:lpstr>
      <vt:lpstr>Interviews</vt:lpstr>
      <vt:lpstr>Selecting Interviewees</vt:lpstr>
      <vt:lpstr>Three Types of Questions</vt:lpstr>
      <vt:lpstr>Designing Interview Questions</vt:lpstr>
      <vt:lpstr>Top-Down and Bottom-up Questioning Strategies</vt:lpstr>
      <vt:lpstr>Preparing for the Interview</vt:lpstr>
      <vt:lpstr>Conducting the Interview</vt:lpstr>
      <vt:lpstr>Post-Interview Follow-Up</vt:lpstr>
      <vt:lpstr>Joint Application Development (JAD)</vt:lpstr>
      <vt:lpstr>JAD Participants</vt:lpstr>
      <vt:lpstr>JAD Meeting Room</vt:lpstr>
      <vt:lpstr>Conducting the JAD Session</vt:lpstr>
      <vt:lpstr>Post JAD Follow-up</vt:lpstr>
      <vt:lpstr>Questionnaires</vt:lpstr>
      <vt:lpstr>Good Questionnaire Design</vt:lpstr>
      <vt:lpstr>Document Analysis</vt:lpstr>
      <vt:lpstr>Observation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Quoc Dinh Truong</dc:creator>
  <cp:lastModifiedBy>Quoc Dinh Truong</cp:lastModifiedBy>
  <cp:revision>30</cp:revision>
  <dcterms:created xsi:type="dcterms:W3CDTF">2018-12-26T12:55:30Z</dcterms:created>
  <dcterms:modified xsi:type="dcterms:W3CDTF">2019-01-01T10:56:29Z</dcterms:modified>
</cp:coreProperties>
</file>