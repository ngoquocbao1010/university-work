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6" r:id="rId32"/>
    <p:sldId id="287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50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449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05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584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702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3796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36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951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089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492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171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6CB8A38-4E14-4BBF-966A-3F9C3CC04ED7}" type="datetimeFigureOut">
              <a:rPr lang="vi-VN" smtClean="0"/>
              <a:t>11/03/2019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590D0D-DEA0-4692-AF1F-61F6A896D05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174" y="2370897"/>
            <a:ext cx="10058400" cy="1450757"/>
          </a:xfrm>
        </p:spPr>
        <p:txBody>
          <a:bodyPr/>
          <a:lstStyle/>
          <a:p>
            <a:pPr algn="ctr"/>
            <a:r>
              <a:rPr lang="en-US" dirty="0" smtClean="0"/>
              <a:t>SYSTEM DESIGN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46565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Architecture </a:t>
            </a:r>
            <a:r>
              <a:rPr lang="en-US" sz="2800" dirty="0">
                <a:solidFill>
                  <a:srgbClr val="FF0000"/>
                </a:solidFill>
              </a:rPr>
              <a:t>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Plans for how the system will be </a:t>
            </a:r>
            <a:r>
              <a:rPr lang="en-US" sz="2400" dirty="0" smtClean="0"/>
              <a:t>distributed across </a:t>
            </a:r>
            <a:r>
              <a:rPr lang="en-US" sz="2400" dirty="0"/>
              <a:t>computers and what the </a:t>
            </a:r>
            <a:r>
              <a:rPr lang="en-US" sz="2400" dirty="0" smtClean="0"/>
              <a:t>hardware and </a:t>
            </a:r>
            <a:r>
              <a:rPr lang="en-US" sz="2400" dirty="0"/>
              <a:t>software will be used for each </a:t>
            </a:r>
            <a:r>
              <a:rPr lang="en-US" sz="2400" dirty="0" smtClean="0"/>
              <a:t>computer.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Hardware </a:t>
            </a:r>
            <a:r>
              <a:rPr lang="en-US" sz="2800" dirty="0">
                <a:solidFill>
                  <a:srgbClr val="FF0000"/>
                </a:solidFill>
              </a:rPr>
              <a:t>and software specification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Describes the </a:t>
            </a:r>
            <a:r>
              <a:rPr lang="en-US" sz="2400" dirty="0" smtClean="0"/>
              <a:t>hardware/software components </a:t>
            </a:r>
            <a:r>
              <a:rPr lang="en-US" sz="2400" dirty="0"/>
              <a:t>in detail to aid </a:t>
            </a:r>
            <a:r>
              <a:rPr lang="en-US" sz="2400" dirty="0" smtClean="0"/>
              <a:t>those responsible </a:t>
            </a:r>
            <a:r>
              <a:rPr lang="en-US" sz="2400" dirty="0"/>
              <a:t>for purchasing those products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Interface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user interface </a:t>
            </a:r>
            <a:r>
              <a:rPr lang="en-US" sz="2400" dirty="0"/>
              <a:t>defines how </a:t>
            </a:r>
            <a:r>
              <a:rPr lang="en-US" sz="2400" dirty="0" smtClean="0"/>
              <a:t>the system </a:t>
            </a:r>
            <a:r>
              <a:rPr lang="en-US" sz="2400" dirty="0"/>
              <a:t>will interact with </a:t>
            </a:r>
            <a:r>
              <a:rPr lang="en-US" sz="2400" dirty="0" smtClean="0"/>
              <a:t>external entities.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system interfaces</a:t>
            </a:r>
            <a:r>
              <a:rPr lang="en-US" sz="2400" dirty="0"/>
              <a:t> define </a:t>
            </a:r>
            <a:r>
              <a:rPr lang="en-US" sz="2400" dirty="0" smtClean="0"/>
              <a:t>how systems </a:t>
            </a:r>
            <a:r>
              <a:rPr lang="en-US" sz="2400" dirty="0"/>
              <a:t>exchange information </a:t>
            </a:r>
            <a:r>
              <a:rPr lang="en-US" sz="2400" dirty="0" smtClean="0"/>
              <a:t>with other systems.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27933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Components</a:t>
            </a:r>
            <a:br>
              <a:rPr lang="en-US" dirty="0"/>
            </a:br>
            <a:r>
              <a:rPr lang="en-US" dirty="0"/>
              <a:t>(Functions) of Software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Data </a:t>
            </a:r>
            <a:r>
              <a:rPr lang="en-US" sz="2800" dirty="0"/>
              <a:t>storage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Data </a:t>
            </a:r>
            <a:r>
              <a:rPr lang="en-US" sz="2800" dirty="0"/>
              <a:t>access 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Processing required to access stored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Application </a:t>
            </a:r>
            <a:r>
              <a:rPr lang="en-US" sz="2800" dirty="0"/>
              <a:t>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Processing </a:t>
            </a:r>
            <a:r>
              <a:rPr lang="en-US" sz="2400" dirty="0"/>
              <a:t>logic of the application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Presentation </a:t>
            </a:r>
            <a:r>
              <a:rPr lang="en-US" sz="2800" dirty="0"/>
              <a:t>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Information display and user </a:t>
            </a:r>
            <a:r>
              <a:rPr lang="en-US" sz="2400" dirty="0" smtClean="0"/>
              <a:t>command processing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68844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Architectural Design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Determine what parts of the </a:t>
            </a:r>
            <a:r>
              <a:rPr lang="en-US" sz="3200" dirty="0" smtClean="0"/>
              <a:t>application software </a:t>
            </a:r>
            <a:r>
              <a:rPr lang="en-US" sz="3200" dirty="0"/>
              <a:t>will be assigned to </a:t>
            </a:r>
            <a:r>
              <a:rPr lang="en-US" sz="3200" dirty="0" smtClean="0"/>
              <a:t>what hardware</a:t>
            </a:r>
            <a:r>
              <a:rPr lang="en-US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Hardware </a:t>
            </a:r>
            <a:r>
              <a:rPr lang="en-US" sz="3200" dirty="0"/>
              <a:t>options: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Clients</a:t>
            </a:r>
            <a:endParaRPr lang="en-US" sz="2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Input/output devices employed by users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PCs, laptops, handheld devices, cell phones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Servers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Larger computers storing software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Accessible by many users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344081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132035"/>
            <a:ext cx="10058400" cy="1450757"/>
          </a:xfrm>
        </p:spPr>
        <p:txBody>
          <a:bodyPr/>
          <a:lstStyle/>
          <a:p>
            <a:pPr algn="ctr"/>
            <a:r>
              <a:rPr lang="vi-VN" dirty="0"/>
              <a:t>Client-Server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7227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Client-Server Architecture (</a:t>
            </a:r>
            <a:r>
              <a:rPr lang="en-US"/>
              <a:t>Two-Tiered</a:t>
            </a:r>
            <a:r>
              <a:rPr lang="en-US" smtClean="0"/>
              <a:t>)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026" name="Picture 2" descr="Káº¿t quáº£ hÃ¬nh áº£nh cho client server two t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986" y="1845734"/>
            <a:ext cx="925830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áº¿t quáº£ hÃ¬nh áº£nh cho client server two t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692" y="1954108"/>
            <a:ext cx="925830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19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Client-Server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Benefits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Scalable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Works </a:t>
            </a:r>
            <a:r>
              <a:rPr lang="en-US" sz="2400" dirty="0"/>
              <a:t>with </a:t>
            </a:r>
            <a:r>
              <a:rPr lang="en-US" sz="2400" dirty="0" smtClean="0"/>
              <a:t>multiple vendors/products through </a:t>
            </a:r>
            <a:r>
              <a:rPr lang="en-US" sz="2400" dirty="0"/>
              <a:t>middleware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Improved modularity of web-based systems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No </a:t>
            </a:r>
            <a:r>
              <a:rPr lang="en-US" sz="2400" dirty="0"/>
              <a:t>central point </a:t>
            </a:r>
            <a:r>
              <a:rPr lang="en-US" sz="2400" dirty="0" smtClean="0"/>
              <a:t>of failure</a:t>
            </a:r>
            <a:endParaRPr lang="vi-VN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vi-VN" dirty="0"/>
              <a:t>Limitations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Complexity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New programming languages and techniques </a:t>
            </a:r>
            <a:r>
              <a:rPr lang="en-US" sz="2400" dirty="0"/>
              <a:t>(</a:t>
            </a:r>
            <a:r>
              <a:rPr lang="en-US" sz="2400" dirty="0" smtClean="0"/>
              <a:t>adds stress for personnel</a:t>
            </a:r>
            <a:r>
              <a:rPr lang="en-US" sz="24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More </a:t>
            </a:r>
            <a:r>
              <a:rPr lang="en-US" sz="2400" dirty="0"/>
              <a:t>complex </a:t>
            </a:r>
            <a:r>
              <a:rPr lang="en-US" sz="2400" dirty="0" smtClean="0"/>
              <a:t>to update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81756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Three-Tiered Client-Server</a:t>
            </a:r>
            <a:br>
              <a:rPr lang="vi-VN" dirty="0"/>
            </a:br>
            <a:r>
              <a:rPr lang="vi-VN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050" name="Picture 2" descr="Káº¿t quáº£ hÃ¬nh áº£nh cho client server three t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737360"/>
            <a:ext cx="10363200" cy="472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280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N-Tiered versus 2-Tiered Client-</a:t>
            </a:r>
            <a:br>
              <a:rPr lang="en-US" dirty="0"/>
            </a:br>
            <a:r>
              <a:rPr lang="en-US" dirty="0"/>
              <a:t>Server Architectures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Benefits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Separates processing to better balance load </a:t>
            </a:r>
            <a:r>
              <a:rPr lang="en-US" sz="2400" dirty="0"/>
              <a:t>on </a:t>
            </a:r>
            <a:r>
              <a:rPr lang="en-US" sz="2400" dirty="0" smtClean="0"/>
              <a:t>different servers.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More scalable.</a:t>
            </a:r>
            <a:endParaRPr lang="vi-VN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vi-VN" dirty="0"/>
              <a:t>Limitations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Greater </a:t>
            </a:r>
            <a:r>
              <a:rPr lang="en-US" sz="2400" dirty="0"/>
              <a:t>load </a:t>
            </a:r>
            <a:r>
              <a:rPr lang="en-US" sz="2400" dirty="0" smtClean="0"/>
              <a:t>on the </a:t>
            </a:r>
            <a:r>
              <a:rPr lang="en-US" sz="2400" dirty="0"/>
              <a:t>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More </a:t>
            </a:r>
            <a:r>
              <a:rPr lang="en-US" sz="2400" dirty="0"/>
              <a:t>difficult </a:t>
            </a:r>
            <a:r>
              <a:rPr lang="en-US" sz="2400" dirty="0" smtClean="0"/>
              <a:t>to program </a:t>
            </a:r>
            <a:r>
              <a:rPr lang="en-US" sz="2400" dirty="0"/>
              <a:t>and test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2352283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 Hardware and Software</a:t>
            </a:r>
            <a:br>
              <a:rPr lang="en-US" dirty="0"/>
            </a:br>
            <a:r>
              <a:rPr lang="en-US" dirty="0"/>
              <a:t>Selection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Functions and Features</a:t>
            </a:r>
            <a:r>
              <a:rPr lang="en-US" dirty="0" smtClean="0"/>
              <a:t> – What specific functions and features are needed (size of monitor, software features …)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Performance</a:t>
            </a:r>
            <a:r>
              <a:rPr lang="en-US" dirty="0" smtClean="0"/>
              <a:t> – How fast the hardware and software operates (processor, number of database writes per second …)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Legacy database and systems </a:t>
            </a:r>
            <a:r>
              <a:rPr lang="en-US" dirty="0" smtClean="0"/>
              <a:t>– How well the hardware and software interacts with legacy systems (can it writes to this database …)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Hardware and OS strategy</a:t>
            </a:r>
            <a:r>
              <a:rPr lang="en-US" dirty="0" smtClean="0"/>
              <a:t> – What are the future migration plan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Cost of ownership</a:t>
            </a:r>
            <a:r>
              <a:rPr lang="en-US" dirty="0" smtClean="0"/>
              <a:t> – What are the cost beyond purchase (incremental license cost, annual maintenance, training cost …)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Vendor performance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285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174" y="2782411"/>
            <a:ext cx="10058400" cy="1450757"/>
          </a:xfrm>
        </p:spPr>
        <p:txBody>
          <a:bodyPr/>
          <a:lstStyle/>
          <a:p>
            <a:pPr algn="ctr"/>
            <a:r>
              <a:rPr lang="en-US" dirty="0" smtClean="0"/>
              <a:t>User interface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432498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navigation mechanism</a:t>
            </a:r>
            <a:r>
              <a:rPr lang="en-US" sz="2800" dirty="0"/>
              <a:t> provides </a:t>
            </a:r>
            <a:r>
              <a:rPr lang="en-US" sz="2800" dirty="0" smtClean="0"/>
              <a:t>the way </a:t>
            </a:r>
            <a:r>
              <a:rPr lang="en-US" sz="2800" dirty="0"/>
              <a:t>for users to tell the system what </a:t>
            </a:r>
            <a:r>
              <a:rPr lang="en-US" sz="2800" dirty="0" smtClean="0"/>
              <a:t>to do.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input mechanism</a:t>
            </a:r>
            <a:r>
              <a:rPr lang="en-US" sz="2800" dirty="0"/>
              <a:t> defines the </a:t>
            </a:r>
            <a:r>
              <a:rPr lang="en-US" sz="2800" dirty="0" smtClean="0"/>
              <a:t>way the </a:t>
            </a:r>
            <a:r>
              <a:rPr lang="en-US" sz="2800" dirty="0"/>
              <a:t>system captures </a:t>
            </a:r>
            <a:r>
              <a:rPr lang="en-US" sz="2800" dirty="0" smtClean="0"/>
              <a:t>information.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output mechanism</a:t>
            </a:r>
            <a:r>
              <a:rPr lang="en-US" sz="2800" dirty="0"/>
              <a:t> defines the </a:t>
            </a:r>
            <a:r>
              <a:rPr lang="en-US" sz="2800" dirty="0" smtClean="0"/>
              <a:t>way the </a:t>
            </a:r>
            <a:r>
              <a:rPr lang="en-US" sz="2800" dirty="0"/>
              <a:t>system provides information to </a:t>
            </a:r>
            <a:r>
              <a:rPr lang="en-US" sz="2800" dirty="0" smtClean="0"/>
              <a:t>users or </a:t>
            </a:r>
            <a:r>
              <a:rPr lang="en-US" sz="2800" dirty="0"/>
              <a:t>other </a:t>
            </a:r>
            <a:r>
              <a:rPr lang="en-US" sz="2800" dirty="0" smtClean="0"/>
              <a:t>systems.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22928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Principles for user interface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FF0000"/>
                </a:solidFill>
              </a:rPr>
              <a:t>Layout Concepts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The screen is often divided into </a:t>
            </a:r>
            <a:r>
              <a:rPr lang="en-US" sz="2800" dirty="0" smtClean="0"/>
              <a:t>three boxes.</a:t>
            </a:r>
            <a:endParaRPr lang="en-US" sz="28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Navigation area (top)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Status area (bottom)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Work area (middle)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Information can be presented in </a:t>
            </a:r>
            <a:r>
              <a:rPr lang="en-US" sz="2800" dirty="0" smtClean="0"/>
              <a:t>multiple areas.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Like areas should be grouped together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99259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Principles for user interface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FF0000"/>
                </a:solidFill>
              </a:rPr>
              <a:t>Layout Concepts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Areas and information should minimize </a:t>
            </a:r>
            <a:r>
              <a:rPr lang="en-US" sz="2800" dirty="0" smtClean="0"/>
              <a:t>user movement </a:t>
            </a:r>
            <a:r>
              <a:rPr lang="en-US" sz="2800" dirty="0"/>
              <a:t>from one to </a:t>
            </a:r>
            <a:r>
              <a:rPr lang="en-US" sz="2800" dirty="0" smtClean="0"/>
              <a:t>another.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Ideally, areas will remain consistent in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Size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Shape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Placement for entering data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Reports presenting retrieved data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57023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026" name="Picture 2" descr="Káº¿t quáº£ hÃ¬nh áº£nh cho HRM user interfa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127" y="472969"/>
            <a:ext cx="7846706" cy="588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Principles for 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200" dirty="0" smtClean="0"/>
              <a:t> Content Awareness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All interfaces should have </a:t>
            </a:r>
            <a:r>
              <a:rPr lang="en-US" sz="2800" dirty="0" smtClean="0"/>
              <a:t>titles.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800" dirty="0"/>
              <a:t>Menus should show where you are </a:t>
            </a:r>
            <a:r>
              <a:rPr lang="en-US" sz="2800" dirty="0"/>
              <a:t>where you came from to get </a:t>
            </a:r>
            <a:r>
              <a:rPr lang="en-US" sz="2800" dirty="0" smtClean="0"/>
              <a:t>there.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It should be clear what information is within </a:t>
            </a:r>
            <a:r>
              <a:rPr lang="vi-VN" sz="2800" dirty="0"/>
              <a:t>each </a:t>
            </a:r>
            <a:r>
              <a:rPr lang="vi-VN" sz="2800" dirty="0" smtClean="0"/>
              <a:t>area.</a:t>
            </a:r>
            <a:endParaRPr lang="vi-VN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Fields and field labels should be selected </a:t>
            </a:r>
            <a:r>
              <a:rPr lang="vi-VN" sz="2800" dirty="0" smtClean="0"/>
              <a:t>carefully.</a:t>
            </a:r>
            <a:endParaRPr lang="vi-VN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Use dates and version numbers to aid system </a:t>
            </a:r>
            <a:r>
              <a:rPr lang="vi-VN" sz="2800" smtClean="0"/>
              <a:t>users.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71210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 descr="http://i909.photobucket.com/albums/ac298/hang_evietsoft/ketoanonline/Hoa20don20ban20hang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74" y="286603"/>
            <a:ext cx="11019212" cy="6060409"/>
          </a:xfrm>
          <a:prstGeom prst="rect">
            <a:avLst/>
          </a:prstGeom>
          <a:noFill/>
          <a:extLst/>
        </p:spPr>
      </p:pic>
    </p:spTree>
    <p:extLst>
      <p:ext uri="{BB962C8B-B14F-4D97-AF65-F5344CB8AC3E}">
        <p14:creationId xmlns:p14="http://schemas.microsoft.com/office/powerpoint/2010/main" val="161132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Principles for 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600" dirty="0"/>
              <a:t> </a:t>
            </a:r>
            <a:r>
              <a:rPr lang="vi-VN" sz="3600" dirty="0" smtClean="0">
                <a:solidFill>
                  <a:srgbClr val="FF0000"/>
                </a:solidFill>
              </a:rPr>
              <a:t>Aesthetics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Interfaces need to be functional </a:t>
            </a:r>
            <a:r>
              <a:rPr lang="en-US" sz="3200" dirty="0" smtClean="0"/>
              <a:t>and inviting </a:t>
            </a:r>
            <a:r>
              <a:rPr lang="en-US" sz="3200" dirty="0"/>
              <a:t>to use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Avoid squeezing in too much, </a:t>
            </a:r>
            <a:r>
              <a:rPr lang="en-US" sz="3200" dirty="0" smtClean="0"/>
              <a:t>particularly for </a:t>
            </a:r>
            <a:r>
              <a:rPr lang="en-US" sz="3200" dirty="0"/>
              <a:t>novice 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Design text carefully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Be aware of font and size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Avoid using all capital letters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367473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Principles for 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600" dirty="0"/>
              <a:t> </a:t>
            </a:r>
            <a:r>
              <a:rPr lang="vi-VN" sz="3600" dirty="0" smtClean="0">
                <a:solidFill>
                  <a:srgbClr val="FF0000"/>
                </a:solidFill>
              </a:rPr>
              <a:t>Aesthetics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Colors and patterns should be </a:t>
            </a:r>
            <a:r>
              <a:rPr lang="en-US" sz="2400" dirty="0" smtClean="0"/>
              <a:t>used carefully</a:t>
            </a:r>
            <a:endParaRPr lang="en-US" sz="24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Test quality of colors by trying the </a:t>
            </a:r>
            <a:r>
              <a:rPr lang="en-US" sz="2000" dirty="0" smtClean="0"/>
              <a:t>interface on </a:t>
            </a:r>
            <a:r>
              <a:rPr lang="en-US" sz="2000" dirty="0"/>
              <a:t>a black/white monitor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Use colors to separate or categorize items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87886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Principles for 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3600" dirty="0"/>
              <a:t> Three clicks </a:t>
            </a:r>
            <a:r>
              <a:rPr lang="vi-VN" sz="3600" dirty="0" smtClean="0"/>
              <a:t>rule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Users should be able to go from </a:t>
            </a:r>
            <a:r>
              <a:rPr lang="en-US" sz="2400" dirty="0" smtClean="0"/>
              <a:t>the start </a:t>
            </a:r>
            <a:r>
              <a:rPr lang="en-US" sz="2400" dirty="0"/>
              <a:t>or main menu of a system to </a:t>
            </a:r>
            <a:r>
              <a:rPr lang="en-US" sz="2400" dirty="0" smtClean="0"/>
              <a:t>the information </a:t>
            </a:r>
            <a:r>
              <a:rPr lang="en-US" sz="2400" dirty="0"/>
              <a:t>or action they want in </a:t>
            </a:r>
            <a:r>
              <a:rPr lang="en-US" sz="2400" dirty="0" smtClean="0"/>
              <a:t>no more </a:t>
            </a:r>
            <a:r>
              <a:rPr lang="en-US" sz="2400" dirty="0"/>
              <a:t>than three mouse clicks or </a:t>
            </a:r>
            <a:r>
              <a:rPr lang="en-US" sz="2400" dirty="0" smtClean="0"/>
              <a:t>three keystrokes.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2276188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NAVIGATION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Basic </a:t>
            </a:r>
            <a:r>
              <a:rPr lang="en-US" sz="3200" dirty="0"/>
              <a:t>Principles of Navigation </a:t>
            </a:r>
            <a:r>
              <a:rPr lang="en-US" sz="3200" dirty="0" smtClean="0"/>
              <a:t>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Assume </a:t>
            </a:r>
            <a:r>
              <a:rPr lang="en-US" sz="2800" dirty="0" smtClean="0"/>
              <a:t>users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Have not read the manual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 smtClean="0"/>
              <a:t>Have </a:t>
            </a:r>
            <a:r>
              <a:rPr lang="en-US" sz="2000" dirty="0"/>
              <a:t>not attended training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Do not have external help readily </a:t>
            </a:r>
            <a:r>
              <a:rPr lang="en-US" sz="2000" dirty="0" smtClean="0"/>
              <a:t>at hand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All controls should be clear </a:t>
            </a:r>
            <a:r>
              <a:rPr lang="en-US" sz="2800" dirty="0" smtClean="0"/>
              <a:t>and understandable </a:t>
            </a:r>
            <a:r>
              <a:rPr lang="en-US" sz="2800" dirty="0"/>
              <a:t>and placed in an </a:t>
            </a:r>
            <a:r>
              <a:rPr lang="en-US" sz="2800" dirty="0" smtClean="0"/>
              <a:t>intuitive location </a:t>
            </a:r>
            <a:r>
              <a:rPr lang="en-US" sz="2800" dirty="0"/>
              <a:t>on the screen.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802017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NAVIGATION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Basic </a:t>
            </a:r>
            <a:r>
              <a:rPr lang="en-US" sz="3200" dirty="0"/>
              <a:t>Principles of Navigation </a:t>
            </a:r>
            <a:r>
              <a:rPr lang="en-US" sz="3200" dirty="0" smtClean="0"/>
              <a:t>Design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Prevent mistakes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Limit choices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Never display commands that can’t be </a:t>
            </a:r>
            <a:r>
              <a:rPr lang="en-US" sz="2400" dirty="0" smtClean="0"/>
              <a:t>used </a:t>
            </a:r>
            <a:r>
              <a:rPr lang="en-US" sz="2800" dirty="0" smtClean="0"/>
              <a:t>(or </a:t>
            </a:r>
            <a:r>
              <a:rPr lang="en-US" sz="2800" dirty="0"/>
              <a:t>“gray them out”)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Confirm actions that are difficult </a:t>
            </a:r>
            <a:r>
              <a:rPr lang="en-US" sz="2400" dirty="0" smtClean="0"/>
              <a:t>or </a:t>
            </a:r>
            <a:r>
              <a:rPr lang="en-US" sz="2800" dirty="0" smtClean="0"/>
              <a:t>impossible </a:t>
            </a:r>
            <a:r>
              <a:rPr lang="en-US" sz="2800" dirty="0"/>
              <a:t>to undo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Simplify recovery from mistakes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Use consistent grammar order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25462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NAVIGATION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Types of Navigation </a:t>
            </a:r>
            <a:r>
              <a:rPr lang="en-US" sz="3200" dirty="0" smtClean="0"/>
              <a:t>Control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Languages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Command language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Natural language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Menus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Generally aim at broad shallow menu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Consider using “hot keys”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Direct Manipulation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Used with icons to start programs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Used to shape and size objects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May not be intuitive for all commands</a:t>
            </a:r>
            <a:endParaRPr lang="en-US" sz="2600" dirty="0" smtClean="0"/>
          </a:p>
          <a:p>
            <a:pPr lvl="1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13757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NAVIGATION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Types of </a:t>
            </a:r>
            <a:r>
              <a:rPr lang="en-US" sz="3200" dirty="0" smtClean="0"/>
              <a:t>Menus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  <p:pic>
        <p:nvPicPr>
          <p:cNvPr id="1026" name="Picture 2" descr="Káº¿t quáº£ hÃ¬nh áº£nh cho menu 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654766"/>
            <a:ext cx="30099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áº¿t quáº£ hÃ¬nh áº£nh cho dropdown men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145" y="2707857"/>
            <a:ext cx="2258563" cy="175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Ã¬nh áº£nh cÃ³ liÃªn qu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73" y="2707857"/>
            <a:ext cx="1617976" cy="175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áº¿t quáº£ hÃ¬nh áº£nh cho tab men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4743777"/>
            <a:ext cx="3301290" cy="193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Káº¿t quáº£ hÃ¬nh áº£nh cho tool ba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80" y="4671091"/>
            <a:ext cx="3345056" cy="200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Káº¿t quáº£ hÃ¬nh áº£nh cho fisheye menu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89" y="3335443"/>
            <a:ext cx="22002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19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tips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Should </a:t>
            </a:r>
            <a:r>
              <a:rPr lang="en-US" sz="2800" dirty="0"/>
              <a:t>be clear, concise, </a:t>
            </a:r>
            <a:r>
              <a:rPr lang="en-US" sz="2800" dirty="0" smtClean="0"/>
              <a:t>and complete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Should </a:t>
            </a:r>
            <a:r>
              <a:rPr lang="en-US" sz="2800" dirty="0"/>
              <a:t>be grammatically correct </a:t>
            </a:r>
            <a:r>
              <a:rPr lang="en-US" sz="2800" dirty="0" smtClean="0"/>
              <a:t>and free </a:t>
            </a:r>
            <a:r>
              <a:rPr lang="en-US" sz="2800" dirty="0"/>
              <a:t>of jargon and abbreviations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Avoid </a:t>
            </a:r>
            <a:r>
              <a:rPr lang="en-US" sz="2800" dirty="0"/>
              <a:t>negatives and humor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64349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Types of Messages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050" name="Picture 2" descr="Káº¿t quáº£ hÃ¬nh áº£nh cho error mess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28826"/>
            <a:ext cx="4604684" cy="202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Káº¿t quáº£ hÃ¬nh áº£nh cho confirmation mess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207" y="1845733"/>
            <a:ext cx="2881283" cy="201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áº¿t quáº£ hÃ¬nh áº£nh cho progress ba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349" y="4681106"/>
            <a:ext cx="41529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Káº¿t quáº£ hÃ¬nh áº£nh cho progress ba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244" y="3965788"/>
            <a:ext cx="3685518" cy="276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77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goal is to simply and </a:t>
            </a:r>
            <a:r>
              <a:rPr lang="en-US" sz="2800" dirty="0" smtClean="0"/>
              <a:t>easily capture </a:t>
            </a:r>
            <a:r>
              <a:rPr lang="en-US" sz="2800" dirty="0"/>
              <a:t>accurate information for </a:t>
            </a:r>
            <a:r>
              <a:rPr lang="en-US" sz="2800" dirty="0" smtClean="0"/>
              <a:t>the system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Reflect </a:t>
            </a:r>
            <a:r>
              <a:rPr lang="en-US" sz="2800" dirty="0"/>
              <a:t>the nature of the inputs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Find </a:t>
            </a:r>
            <a:r>
              <a:rPr lang="en-US" sz="2800" dirty="0"/>
              <a:t>ways to simplify their </a:t>
            </a:r>
            <a:r>
              <a:rPr lang="en-US" sz="2800" dirty="0" smtClean="0"/>
              <a:t>collection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Online </a:t>
            </a:r>
            <a:r>
              <a:rPr lang="en-US" sz="2800" dirty="0">
                <a:solidFill>
                  <a:srgbClr val="FF0000"/>
                </a:solidFill>
              </a:rPr>
              <a:t>processing</a:t>
            </a:r>
            <a:r>
              <a:rPr lang="en-US" sz="2800" dirty="0"/>
              <a:t> immediately </a:t>
            </a:r>
            <a:r>
              <a:rPr lang="en-US" sz="2800" dirty="0" smtClean="0"/>
              <a:t>records the </a:t>
            </a:r>
            <a:r>
              <a:rPr lang="en-US" sz="2800" dirty="0"/>
              <a:t>transaction in the </a:t>
            </a:r>
            <a:r>
              <a:rPr lang="en-US" sz="2800" dirty="0" smtClean="0"/>
              <a:t>appropriate database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Batch </a:t>
            </a:r>
            <a:r>
              <a:rPr lang="en-US" sz="2800" dirty="0">
                <a:solidFill>
                  <a:srgbClr val="FF0000"/>
                </a:solidFill>
              </a:rPr>
              <a:t>processing</a:t>
            </a:r>
            <a:r>
              <a:rPr lang="en-US" sz="2800" dirty="0"/>
              <a:t> collects inputs </a:t>
            </a:r>
            <a:r>
              <a:rPr lang="en-US" sz="2800" dirty="0" smtClean="0"/>
              <a:t>over time </a:t>
            </a:r>
            <a:r>
              <a:rPr lang="en-US" sz="2800" dirty="0"/>
              <a:t>and enters them into the system </a:t>
            </a:r>
            <a:r>
              <a:rPr lang="en-US" sz="2800" dirty="0" smtClean="0"/>
              <a:t>at one </a:t>
            </a:r>
            <a:r>
              <a:rPr lang="en-US" sz="2800" dirty="0"/>
              <a:t>time in a batch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908593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Minimize </a:t>
            </a:r>
            <a:r>
              <a:rPr lang="en-US" sz="2800" dirty="0" smtClean="0"/>
              <a:t>Keystrokes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Never ask for information that </a:t>
            </a:r>
            <a:r>
              <a:rPr lang="en-US" sz="2600" dirty="0" smtClean="0"/>
              <a:t>can be </a:t>
            </a:r>
            <a:r>
              <a:rPr lang="en-US" sz="2600" dirty="0"/>
              <a:t>obtained other ways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Lookups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Dropdown lists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Default values</a:t>
            </a:r>
            <a:endParaRPr lang="vi-VN" sz="2200" dirty="0"/>
          </a:p>
        </p:txBody>
      </p:sp>
    </p:spTree>
    <p:extLst>
      <p:ext uri="{BB962C8B-B14F-4D97-AF65-F5344CB8AC3E}">
        <p14:creationId xmlns:p14="http://schemas.microsoft.com/office/powerpoint/2010/main" val="1804355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inputs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3074" name="Picture 2" descr="Káº¿t quáº£ hÃ¬nh áº£nh cho text fie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0" y="1845734"/>
            <a:ext cx="4488329" cy="220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Káº¿t quáº£ hÃ¬nh áº£nh cho number input fie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89" y="2026681"/>
            <a:ext cx="47815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5" y="3951639"/>
            <a:ext cx="3801838" cy="2421136"/>
          </a:xfrm>
          <a:prstGeom prst="rect">
            <a:avLst/>
          </a:prstGeom>
        </p:spPr>
      </p:pic>
      <p:pic>
        <p:nvPicPr>
          <p:cNvPr id="3082" name="Picture 10" descr="Káº¿t quáº£ hÃ¬nh áº£nh cho combobo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88" y="4206862"/>
            <a:ext cx="4143375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Káº¿t quáº£ hÃ¬nh áº£nh cho checkbo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025" y="3292462"/>
            <a:ext cx="326707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621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122" name="Picture 2" descr="Káº¿t quáº£ hÃ¬nh áº£nh cho input form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755" y="1737360"/>
            <a:ext cx="85534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5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Understand </a:t>
            </a:r>
            <a:r>
              <a:rPr lang="en-US" sz="3200" dirty="0"/>
              <a:t>report usage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Reference or cover-to-cover?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Frequency?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Real-time or batch reports?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Manage </a:t>
            </a:r>
            <a:r>
              <a:rPr lang="en-US" sz="3200" dirty="0"/>
              <a:t>information 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All needed information, no more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Minimize bias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790287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reports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098" name="Picture 2" descr="Káº¿t quáº£ hÃ¬nh áº£nh cho detail repo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16" y="1845734"/>
            <a:ext cx="3929855" cy="296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Káº¿t quáº£ hÃ¬nh áº£nh cho summary report 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169" y="1845734"/>
            <a:ext cx="2750622" cy="296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Káº¿t quáº£ hÃ¬nh áº£nh cho graph report exampl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920" y="1845734"/>
            <a:ext cx="3838240" cy="296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99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132035"/>
            <a:ext cx="10058400" cy="1450757"/>
          </a:xfrm>
        </p:spPr>
        <p:txBody>
          <a:bodyPr/>
          <a:lstStyle/>
          <a:p>
            <a:r>
              <a:rPr lang="en-US" dirty="0" smtClean="0"/>
              <a:t>Physical data design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4219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Reduce the number of times </a:t>
            </a:r>
            <a:r>
              <a:rPr lang="en-US" sz="3200" dirty="0" smtClean="0"/>
              <a:t>storage must </a:t>
            </a:r>
            <a:r>
              <a:rPr lang="en-US" sz="3200" dirty="0"/>
              <a:t>be accessed by physically </a:t>
            </a:r>
            <a:r>
              <a:rPr lang="en-US" sz="3200" dirty="0" smtClean="0"/>
              <a:t>placing like </a:t>
            </a:r>
            <a:r>
              <a:rPr lang="en-US" sz="3200" dirty="0"/>
              <a:t>records close together.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err="1"/>
              <a:t>Intrafile</a:t>
            </a:r>
            <a:r>
              <a:rPr lang="en-US" sz="2800" dirty="0"/>
              <a:t> clustering – similar records in a </a:t>
            </a:r>
            <a:r>
              <a:rPr lang="en-US" sz="2800" dirty="0" smtClean="0"/>
              <a:t>table are </a:t>
            </a:r>
            <a:r>
              <a:rPr lang="en-US" sz="2800" dirty="0"/>
              <a:t>stored together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Interfile clustering – combine records </a:t>
            </a:r>
            <a:r>
              <a:rPr lang="en-US" sz="2800" dirty="0" smtClean="0"/>
              <a:t>from more </a:t>
            </a:r>
            <a:r>
              <a:rPr lang="en-US" sz="2800" dirty="0"/>
              <a:t>that one table that are </a:t>
            </a:r>
            <a:r>
              <a:rPr lang="en-US" sz="2800" dirty="0" smtClean="0"/>
              <a:t>typically retrieved </a:t>
            </a:r>
            <a:r>
              <a:rPr lang="en-US" sz="2800" dirty="0"/>
              <a:t>together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817267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 err="1"/>
              <a:t>minitable</a:t>
            </a:r>
            <a:r>
              <a:rPr lang="en-US" sz="2800" dirty="0"/>
              <a:t> that contains values from </a:t>
            </a:r>
            <a:r>
              <a:rPr lang="en-US" sz="2800" dirty="0" smtClean="0"/>
              <a:t>one or </a:t>
            </a:r>
            <a:r>
              <a:rPr lang="en-US" sz="2800" dirty="0"/>
              <a:t>more fields in a table and the </a:t>
            </a:r>
            <a:r>
              <a:rPr lang="en-US" sz="2800" dirty="0" smtClean="0"/>
              <a:t>location of </a:t>
            </a:r>
            <a:r>
              <a:rPr lang="en-US" sz="2800" dirty="0"/>
              <a:t>the values within the table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Similar </a:t>
            </a:r>
            <a:r>
              <a:rPr lang="en-US" sz="2800" dirty="0"/>
              <a:t>to the index of a book</a:t>
            </a:r>
            <a:r>
              <a:rPr 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smtClean="0"/>
              <a:t>For each table, create a unique index that is based on primary key.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smtClean="0"/>
              <a:t>For each table, create an index that is based on foreign key to improve the performance of joins.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smtClean="0"/>
              <a:t>Create an index of fields that are used frequently for grouping, sorting or criteria.  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194846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Estimating Storage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Raw </a:t>
            </a:r>
            <a:r>
              <a:rPr lang="en-US" sz="2800" dirty="0"/>
              <a:t>data – sum of the average widths </a:t>
            </a:r>
            <a:r>
              <a:rPr lang="en-US" sz="2800" dirty="0" smtClean="0"/>
              <a:t>of all </a:t>
            </a:r>
            <a:r>
              <a:rPr lang="en-US" sz="2800" dirty="0"/>
              <a:t>fields in a table.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Calculate </a:t>
            </a:r>
            <a:r>
              <a:rPr lang="en-US" sz="2800" dirty="0"/>
              <a:t>overhead requirements </a:t>
            </a:r>
            <a:r>
              <a:rPr lang="en-US" sz="2800" dirty="0" smtClean="0"/>
              <a:t>based on </a:t>
            </a:r>
            <a:r>
              <a:rPr lang="en-US" sz="2800" dirty="0"/>
              <a:t>DBMS vendor recommendations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Estimate </a:t>
            </a:r>
            <a:r>
              <a:rPr lang="en-US" sz="2800" dirty="0"/>
              <a:t>initial number of records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Estimate </a:t>
            </a:r>
            <a:r>
              <a:rPr lang="en-US" sz="2800" dirty="0"/>
              <a:t>growth rate of records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979749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Calculating Volumetrics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106" y="1845734"/>
            <a:ext cx="6638747" cy="46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60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2413028"/>
              </p:ext>
            </p:extLst>
          </p:nvPr>
        </p:nvGraphicFramePr>
        <p:xfrm>
          <a:off x="363072" y="2450889"/>
          <a:ext cx="11524129" cy="2813049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490510"/>
                <a:gridCol w="1378630"/>
                <a:gridCol w="699247"/>
                <a:gridCol w="726141"/>
                <a:gridCol w="928562"/>
                <a:gridCol w="816885"/>
                <a:gridCol w="679166"/>
                <a:gridCol w="744252"/>
                <a:gridCol w="919041"/>
                <a:gridCol w="820270"/>
                <a:gridCol w="860612"/>
                <a:gridCol w="968188"/>
                <a:gridCol w="1492625"/>
              </a:tblGrid>
              <a:tr h="9867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No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Attribute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Data</a:t>
                      </a:r>
                      <a:r>
                        <a:rPr lang="en-US" sz="1800" baseline="0" dirty="0" smtClean="0">
                          <a:effectLst/>
                        </a:rPr>
                        <a:t> type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Size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Decimal places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Default</a:t>
                      </a:r>
                      <a:r>
                        <a:rPr lang="en-US" sz="1800" baseline="0" dirty="0" smtClean="0">
                          <a:effectLst/>
                        </a:rPr>
                        <a:t> value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MIN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MAX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Primary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Unique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Foreign</a:t>
                      </a:r>
                      <a:r>
                        <a:rPr lang="en-US" sz="1800" baseline="0" dirty="0" smtClean="0">
                          <a:effectLst/>
                        </a:rPr>
                        <a:t> key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Description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</a:tr>
              <a:tr h="4877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</a:tr>
              <a:tr h="4877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</a:tr>
              <a:tr h="4877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</a:tr>
              <a:tr h="36299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52017" marR="5201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3362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733</TotalTime>
  <Words>1132</Words>
  <Application>Microsoft Office PowerPoint</Application>
  <PresentationFormat>Widescreen</PresentationFormat>
  <Paragraphs>182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Wingdings</vt:lpstr>
      <vt:lpstr>Retrospect</vt:lpstr>
      <vt:lpstr>SYSTEM DESIGN</vt:lpstr>
      <vt:lpstr>Key Definitions</vt:lpstr>
      <vt:lpstr>Architectural Components (Functions) of Software</vt:lpstr>
      <vt:lpstr>Architectural Design Purpose</vt:lpstr>
      <vt:lpstr>Client-Server Architectures</vt:lpstr>
      <vt:lpstr>Client-Server Architecture (Two-Tiered)</vt:lpstr>
      <vt:lpstr>Client-Server Attributes</vt:lpstr>
      <vt:lpstr>Three-Tiered Client-Server Architecture</vt:lpstr>
      <vt:lpstr>N-Tiered versus 2-Tiered Client- Server Architectures</vt:lpstr>
      <vt:lpstr>Factors in Hardware and Software Selection</vt:lpstr>
      <vt:lpstr>User interface</vt:lpstr>
      <vt:lpstr>Key Definitions</vt:lpstr>
      <vt:lpstr>Principles for user interface design</vt:lpstr>
      <vt:lpstr>Principles for user interface design</vt:lpstr>
      <vt:lpstr>PowerPoint Presentation</vt:lpstr>
      <vt:lpstr>Principles for user interface design</vt:lpstr>
      <vt:lpstr>PowerPoint Presentation</vt:lpstr>
      <vt:lpstr>Principles for user interface design</vt:lpstr>
      <vt:lpstr>Principles for user interface design</vt:lpstr>
      <vt:lpstr>Principles for user interface design</vt:lpstr>
      <vt:lpstr>NAVIGATION DESIGN</vt:lpstr>
      <vt:lpstr>NAVIGATION DESIGN</vt:lpstr>
      <vt:lpstr>NAVIGATION DESIGN</vt:lpstr>
      <vt:lpstr>NAVIGATION DESIGN</vt:lpstr>
      <vt:lpstr>Message tips</vt:lpstr>
      <vt:lpstr>Types of Messages</vt:lpstr>
      <vt:lpstr>Input design</vt:lpstr>
      <vt:lpstr>Input design</vt:lpstr>
      <vt:lpstr>Types of inputs</vt:lpstr>
      <vt:lpstr>PowerPoint Presentation</vt:lpstr>
      <vt:lpstr>Output design</vt:lpstr>
      <vt:lpstr>Types of reports</vt:lpstr>
      <vt:lpstr>Physical data design</vt:lpstr>
      <vt:lpstr>Clustering</vt:lpstr>
      <vt:lpstr>Indexing</vt:lpstr>
      <vt:lpstr>Estimating Storage Size</vt:lpstr>
      <vt:lpstr>Calculating Volumetrics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FLOW DIAGRAM - DFD</dc:title>
  <dc:creator>Quoc Dinh Truong</dc:creator>
  <cp:lastModifiedBy>Quoc Dinh Truong</cp:lastModifiedBy>
  <cp:revision>81</cp:revision>
  <dcterms:created xsi:type="dcterms:W3CDTF">2019-02-25T13:07:23Z</dcterms:created>
  <dcterms:modified xsi:type="dcterms:W3CDTF">2019-03-11T13:55:38Z</dcterms:modified>
</cp:coreProperties>
</file>