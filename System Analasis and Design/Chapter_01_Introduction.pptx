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6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1743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08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55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123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5949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3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1214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4936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932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105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8A971BF-F47C-41F8-A263-E6E7BC3E6E63}" type="datetimeFigureOut">
              <a:rPr lang="vi-VN" smtClean="0"/>
              <a:t>26/12/2018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FEC75C-B151-4284-B6A6-E6F2136DD5DE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3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624" y="758952"/>
            <a:ext cx="11658600" cy="2226295"/>
          </a:xfrm>
        </p:spPr>
        <p:txBody>
          <a:bodyPr/>
          <a:lstStyle/>
          <a:p>
            <a:r>
              <a:rPr lang="vi-VN" dirty="0"/>
              <a:t>System Analysis and Design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7842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Required Text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 </a:t>
            </a:r>
            <a:r>
              <a:rPr lang="en-US" sz="3200" dirty="0">
                <a:solidFill>
                  <a:srgbClr val="0033CC"/>
                </a:solidFill>
              </a:rPr>
              <a:t>Modern System Analysis &amp; Design, 4</a:t>
            </a:r>
            <a:r>
              <a:rPr lang="en-US" sz="3200" baseline="30000" dirty="0">
                <a:solidFill>
                  <a:srgbClr val="0033CC"/>
                </a:solidFill>
              </a:rPr>
              <a:t>th</a:t>
            </a:r>
            <a:r>
              <a:rPr lang="en-US" sz="3200" dirty="0">
                <a:solidFill>
                  <a:srgbClr val="0033CC"/>
                </a:solidFill>
              </a:rPr>
              <a:t> </a:t>
            </a:r>
          </a:p>
          <a:p>
            <a:pPr marL="201168" lvl="1" indent="0">
              <a:buNone/>
            </a:pPr>
            <a:r>
              <a:rPr lang="en-US" sz="2800" dirty="0" err="1"/>
              <a:t>Jefferey</a:t>
            </a:r>
            <a:r>
              <a:rPr lang="en-US" sz="2800" dirty="0"/>
              <a:t> A. Hoffer, Joey F. George and Joseph. S. </a:t>
            </a:r>
            <a:r>
              <a:rPr lang="en-US" sz="2800" dirty="0" err="1" smtClean="0"/>
              <a:t>Valacich</a:t>
            </a:r>
            <a:r>
              <a:rPr lang="en-US" sz="2800" dirty="0" smtClean="0"/>
              <a:t> </a:t>
            </a:r>
          </a:p>
          <a:p>
            <a:pPr marL="201168" lvl="1" indent="0">
              <a:buNone/>
            </a:pPr>
            <a:r>
              <a:rPr lang="en-US" sz="2800" dirty="0" smtClean="0"/>
              <a:t>Prentice-Hall</a:t>
            </a:r>
            <a:r>
              <a:rPr lang="en-US" sz="2800" dirty="0"/>
              <a:t>, 2005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>
                <a:solidFill>
                  <a:srgbClr val="0033CC"/>
                </a:solidFill>
              </a:rPr>
              <a:t>System Analysis and Design Methods, </a:t>
            </a:r>
            <a:r>
              <a:rPr lang="en-US" sz="3200" dirty="0" smtClean="0">
                <a:solidFill>
                  <a:srgbClr val="0033CC"/>
                </a:solidFill>
              </a:rPr>
              <a:t>7</a:t>
            </a:r>
            <a:r>
              <a:rPr lang="en-US" sz="3200" baseline="30000" dirty="0" smtClean="0">
                <a:solidFill>
                  <a:srgbClr val="0033CC"/>
                </a:solidFill>
              </a:rPr>
              <a:t>th</a:t>
            </a:r>
            <a:endParaRPr lang="en-US" sz="3200" baseline="30000" dirty="0">
              <a:solidFill>
                <a:srgbClr val="0033CC"/>
              </a:solidFill>
            </a:endParaRPr>
          </a:p>
          <a:p>
            <a:pPr marL="201168" lvl="1" indent="0">
              <a:buNone/>
            </a:pPr>
            <a:r>
              <a:rPr lang="en-US" sz="2800" dirty="0" smtClean="0"/>
              <a:t>Jeffrey L. Whitten, Lonnie D. Bentley </a:t>
            </a:r>
          </a:p>
          <a:p>
            <a:pPr marL="201168" lvl="1" indent="0">
              <a:buNone/>
            </a:pPr>
            <a:r>
              <a:rPr lang="en-US" sz="2800" dirty="0" smtClean="0"/>
              <a:t>McGraw – Hill, 2007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407654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Course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To </a:t>
            </a:r>
            <a:r>
              <a:rPr lang="en-US" sz="2800" dirty="0">
                <a:solidFill>
                  <a:srgbClr val="FF0000"/>
                </a:solidFill>
              </a:rPr>
              <a:t>provide</a:t>
            </a:r>
            <a:r>
              <a:rPr lang="en-US" sz="2800" dirty="0"/>
              <a:t> you with new ways of looking at information in the world in order to </a:t>
            </a:r>
            <a:r>
              <a:rPr lang="en-US" sz="2800" dirty="0">
                <a:solidFill>
                  <a:srgbClr val="0033CC"/>
                </a:solidFill>
              </a:rPr>
              <a:t>solve business </a:t>
            </a:r>
            <a:r>
              <a:rPr lang="en-US" sz="2800" dirty="0" smtClean="0">
                <a:solidFill>
                  <a:srgbClr val="0033CC"/>
                </a:solidFill>
              </a:rPr>
              <a:t>problems.</a:t>
            </a:r>
            <a:endParaRPr lang="en-US" sz="2800" dirty="0">
              <a:solidFill>
                <a:srgbClr val="0033CC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To </a:t>
            </a:r>
            <a:r>
              <a:rPr lang="en-US" sz="2800" dirty="0">
                <a:solidFill>
                  <a:srgbClr val="FF0000"/>
                </a:solidFill>
              </a:rPr>
              <a:t>introduce</a:t>
            </a:r>
            <a:r>
              <a:rPr lang="en-US" sz="2800" dirty="0"/>
              <a:t> you to concepts and methods of </a:t>
            </a:r>
            <a:r>
              <a:rPr lang="en-US" sz="2800" dirty="0" smtClean="0">
                <a:solidFill>
                  <a:srgbClr val="0033CC"/>
                </a:solidFill>
              </a:rPr>
              <a:t>SAD.</a:t>
            </a:r>
            <a:endParaRPr lang="en-US" sz="2800" dirty="0">
              <a:solidFill>
                <a:srgbClr val="0033CC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To </a:t>
            </a:r>
            <a:r>
              <a:rPr lang="en-US" sz="2800" dirty="0">
                <a:solidFill>
                  <a:srgbClr val="FF0000"/>
                </a:solidFill>
              </a:rPr>
              <a:t>describe </a:t>
            </a:r>
            <a:r>
              <a:rPr lang="en-US" sz="2800" dirty="0"/>
              <a:t>the systems </a:t>
            </a:r>
            <a:r>
              <a:rPr lang="en-US" sz="2800" dirty="0">
                <a:solidFill>
                  <a:srgbClr val="0033CC"/>
                </a:solidFill>
              </a:rPr>
              <a:t>development life cycle</a:t>
            </a:r>
            <a:r>
              <a:rPr lang="en-US" sz="2800" dirty="0"/>
              <a:t> (SDLC</a:t>
            </a:r>
            <a:r>
              <a:rPr lang="en-US" sz="2800" dirty="0" smtClean="0"/>
              <a:t>).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To </a:t>
            </a:r>
            <a:r>
              <a:rPr lang="en-US" sz="2800" dirty="0">
                <a:solidFill>
                  <a:srgbClr val="FF0000"/>
                </a:solidFill>
              </a:rPr>
              <a:t>teach </a:t>
            </a:r>
            <a:r>
              <a:rPr lang="en-US" sz="2800" dirty="0"/>
              <a:t>you effective methods for gathering essential information during </a:t>
            </a:r>
            <a:r>
              <a:rPr lang="en-US" sz="2800" dirty="0">
                <a:solidFill>
                  <a:srgbClr val="0033CC"/>
                </a:solidFill>
              </a:rPr>
              <a:t>system </a:t>
            </a:r>
            <a:r>
              <a:rPr lang="en-US" sz="2800" dirty="0" smtClean="0">
                <a:solidFill>
                  <a:srgbClr val="0033CC"/>
                </a:solidFill>
              </a:rPr>
              <a:t>analysis.</a:t>
            </a:r>
            <a:endParaRPr lang="en-US" sz="2800" dirty="0">
              <a:solidFill>
                <a:srgbClr val="0033CC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To </a:t>
            </a:r>
            <a:r>
              <a:rPr lang="en-US" sz="2800" dirty="0">
                <a:solidFill>
                  <a:srgbClr val="FF0000"/>
                </a:solidFill>
              </a:rPr>
              <a:t>teach </a:t>
            </a:r>
            <a:r>
              <a:rPr lang="en-US" sz="2800" dirty="0"/>
              <a:t>you effective methods for </a:t>
            </a:r>
            <a:r>
              <a:rPr lang="en-US" sz="2800" dirty="0">
                <a:solidFill>
                  <a:srgbClr val="0033CC"/>
                </a:solidFill>
              </a:rPr>
              <a:t>designing systems</a:t>
            </a:r>
            <a:r>
              <a:rPr lang="en-US" sz="2800" dirty="0"/>
              <a:t> to solve problems effectively using </a:t>
            </a:r>
            <a:r>
              <a:rPr lang="en-US" sz="2800" dirty="0" smtClean="0"/>
              <a:t>technology.</a:t>
            </a:r>
            <a:endParaRPr lang="en-US" sz="2800" dirty="0"/>
          </a:p>
          <a:p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408747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15" y="2370897"/>
            <a:ext cx="10058400" cy="1450757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1 - Introduction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22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ideas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Many </a:t>
            </a:r>
            <a:r>
              <a:rPr lang="en-US" sz="2800" dirty="0"/>
              <a:t>failed systems were </a:t>
            </a:r>
            <a:r>
              <a:rPr lang="en-US" sz="2800" dirty="0" smtClean="0"/>
              <a:t>abandoned because </a:t>
            </a:r>
            <a:r>
              <a:rPr lang="en-US" sz="2800" dirty="0"/>
              <a:t>analysts </a:t>
            </a:r>
            <a:r>
              <a:rPr lang="en-US" sz="2800" dirty="0">
                <a:solidFill>
                  <a:srgbClr val="FF0000"/>
                </a:solidFill>
              </a:rPr>
              <a:t>tried to build </a:t>
            </a:r>
            <a:r>
              <a:rPr lang="en-US" sz="2800" dirty="0" smtClean="0">
                <a:solidFill>
                  <a:srgbClr val="FF0000"/>
                </a:solidFill>
              </a:rPr>
              <a:t>wonderful systems</a:t>
            </a:r>
            <a:r>
              <a:rPr lang="en-US" sz="2800" dirty="0" smtClean="0"/>
              <a:t> </a:t>
            </a:r>
            <a:r>
              <a:rPr lang="en-US" sz="2800" dirty="0">
                <a:solidFill>
                  <a:srgbClr val="0033CC"/>
                </a:solidFill>
              </a:rPr>
              <a:t>without understanding </a:t>
            </a:r>
            <a:r>
              <a:rPr lang="en-US" sz="2800" dirty="0" smtClean="0">
                <a:solidFill>
                  <a:srgbClr val="0033CC"/>
                </a:solidFill>
              </a:rPr>
              <a:t>the organization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primarily goal</a:t>
            </a:r>
            <a:r>
              <a:rPr lang="en-US" sz="2800" dirty="0"/>
              <a:t> is to create </a:t>
            </a:r>
            <a:r>
              <a:rPr lang="en-US" sz="2800" dirty="0">
                <a:solidFill>
                  <a:srgbClr val="FF0000"/>
                </a:solidFill>
              </a:rPr>
              <a:t>value</a:t>
            </a:r>
            <a:r>
              <a:rPr lang="en-US" sz="2800" dirty="0"/>
              <a:t> </a:t>
            </a:r>
            <a:r>
              <a:rPr lang="en-US" sz="2800" dirty="0" smtClean="0"/>
              <a:t>for the </a:t>
            </a:r>
            <a:r>
              <a:rPr lang="en-US" sz="2800" dirty="0"/>
              <a:t>organization.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400285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system?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>
                <a:solidFill>
                  <a:srgbClr val="FF0000"/>
                </a:solidFill>
              </a:rPr>
              <a:t>collection of parts</a:t>
            </a:r>
            <a:r>
              <a:rPr lang="en-US" sz="2800" dirty="0"/>
              <a:t> that </a:t>
            </a:r>
            <a:r>
              <a:rPr lang="en-US" sz="2800" dirty="0">
                <a:solidFill>
                  <a:srgbClr val="FF0000"/>
                </a:solidFill>
              </a:rPr>
              <a:t>work together</a:t>
            </a:r>
            <a:r>
              <a:rPr lang="en-US" sz="2800" dirty="0"/>
              <a:t> to achieve a goal/task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Examples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Solar system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 smtClean="0"/>
              <a:t>Public </a:t>
            </a:r>
            <a:r>
              <a:rPr lang="en-US" sz="1800" dirty="0"/>
              <a:t>transport system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 smtClean="0"/>
              <a:t>Computer </a:t>
            </a:r>
            <a:r>
              <a:rPr lang="en-US" sz="1800" dirty="0"/>
              <a:t>system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/>
              <a:t>Information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>
                <a:solidFill>
                  <a:srgbClr val="FF0000"/>
                </a:solidFill>
              </a:rPr>
              <a:t>set of objects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relationships among the objects</a:t>
            </a:r>
            <a:r>
              <a:rPr lang="en-US" sz="2800" dirty="0"/>
              <a:t> viewed as a whole and designed to achieve a  purpose</a:t>
            </a:r>
          </a:p>
          <a:p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39053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grpSp>
        <p:nvGrpSpPr>
          <p:cNvPr id="19" name="Group 18"/>
          <p:cNvGrpSpPr/>
          <p:nvPr/>
        </p:nvGrpSpPr>
        <p:grpSpPr>
          <a:xfrm>
            <a:off x="2557780" y="2086924"/>
            <a:ext cx="7137400" cy="2898408"/>
            <a:chOff x="2557780" y="2086924"/>
            <a:chExt cx="7137400" cy="2898408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2557780" y="2729495"/>
              <a:ext cx="7137400" cy="2255837"/>
              <a:chOff x="440" y="1784"/>
              <a:chExt cx="4880" cy="1421"/>
            </a:xfrm>
          </p:grpSpPr>
          <p:sp>
            <p:nvSpPr>
              <p:cNvPr id="6" name="Rectangle 3"/>
              <p:cNvSpPr>
                <a:spLocks noChangeArrowheads="1"/>
              </p:cNvSpPr>
              <p:nvPr/>
            </p:nvSpPr>
            <p:spPr bwMode="auto">
              <a:xfrm>
                <a:off x="440" y="1784"/>
                <a:ext cx="1136" cy="752"/>
              </a:xfrm>
              <a:prstGeom prst="rect">
                <a:avLst/>
              </a:prstGeom>
              <a:solidFill>
                <a:srgbClr val="7FFF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 anchor="ctr"/>
              <a:lstStyle/>
              <a:p>
                <a:pPr algn="ctr" eaLnBrk="0" hangingPunct="0"/>
                <a:r>
                  <a:rPr kumimoji="0" lang="en-US" altLang="ar-SA" b="1">
                    <a:latin typeface="Arial" panose="020B0604020202020204" pitchFamily="34" charset="0"/>
                  </a:rPr>
                  <a:t>INPUT</a:t>
                </a:r>
              </a:p>
            </p:txBody>
          </p:sp>
          <p:sp>
            <p:nvSpPr>
              <p:cNvPr id="7" name="Rectangle 4"/>
              <p:cNvSpPr>
                <a:spLocks noChangeArrowheads="1"/>
              </p:cNvSpPr>
              <p:nvPr/>
            </p:nvSpPr>
            <p:spPr bwMode="auto">
              <a:xfrm>
                <a:off x="4184" y="1784"/>
                <a:ext cx="1136" cy="752"/>
              </a:xfrm>
              <a:prstGeom prst="rect">
                <a:avLst/>
              </a:prstGeom>
              <a:solidFill>
                <a:srgbClr val="7FFF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 anchor="ctr"/>
              <a:lstStyle/>
              <a:p>
                <a:pPr algn="ctr" eaLnBrk="0" hangingPunct="0"/>
                <a:r>
                  <a:rPr kumimoji="0" lang="en-US" altLang="ar-SA" b="1">
                    <a:latin typeface="Arial" panose="020B0604020202020204" pitchFamily="34" charset="0"/>
                  </a:rPr>
                  <a:t>OUTPUT</a:t>
                </a: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2312" y="1784"/>
                <a:ext cx="1136" cy="752"/>
              </a:xfrm>
              <a:prstGeom prst="rect">
                <a:avLst/>
              </a:prstGeom>
              <a:solidFill>
                <a:srgbClr val="7FFF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 anchor="ctr"/>
              <a:lstStyle/>
              <a:p>
                <a:pPr algn="ctr" eaLnBrk="0" hangingPunct="0"/>
                <a:r>
                  <a:rPr kumimoji="0" lang="en-US" altLang="ar-SA" b="1">
                    <a:latin typeface="Arial" panose="020B0604020202020204" pitchFamily="34" charset="0"/>
                  </a:rPr>
                  <a:t>PROCESS</a:t>
                </a:r>
              </a:p>
            </p:txBody>
          </p:sp>
          <p:grpSp>
            <p:nvGrpSpPr>
              <p:cNvPr id="9" name="Group 6"/>
              <p:cNvGrpSpPr>
                <a:grpSpLocks/>
              </p:cNvGrpSpPr>
              <p:nvPr/>
            </p:nvGrpSpPr>
            <p:grpSpPr bwMode="auto">
              <a:xfrm>
                <a:off x="960" y="2020"/>
                <a:ext cx="3792" cy="1185"/>
                <a:chOff x="960" y="2020"/>
                <a:chExt cx="3792" cy="1185"/>
              </a:xfrm>
            </p:grpSpPr>
            <p:sp>
              <p:nvSpPr>
                <p:cNvPr id="10" name="AutoShape 7"/>
                <p:cNvSpPr>
                  <a:spLocks noChangeArrowheads="1"/>
                </p:cNvSpPr>
                <p:nvPr/>
              </p:nvSpPr>
              <p:spPr bwMode="auto">
                <a:xfrm>
                  <a:off x="1588" y="2020"/>
                  <a:ext cx="712" cy="280"/>
                </a:xfrm>
                <a:prstGeom prst="rightArrow">
                  <a:avLst>
                    <a:gd name="adj1" fmla="val 50000"/>
                    <a:gd name="adj2" fmla="val 127155"/>
                  </a:avLst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1" name="AutoShape 8"/>
                <p:cNvSpPr>
                  <a:spLocks noChangeArrowheads="1"/>
                </p:cNvSpPr>
                <p:nvPr/>
              </p:nvSpPr>
              <p:spPr bwMode="auto">
                <a:xfrm>
                  <a:off x="3460" y="2020"/>
                  <a:ext cx="712" cy="280"/>
                </a:xfrm>
                <a:prstGeom prst="rightArrow">
                  <a:avLst>
                    <a:gd name="adj1" fmla="val 50000"/>
                    <a:gd name="adj2" fmla="val 127155"/>
                  </a:avLst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2" name="Rectangle 9"/>
                <p:cNvSpPr>
                  <a:spLocks noChangeArrowheads="1"/>
                </p:cNvSpPr>
                <p:nvPr/>
              </p:nvSpPr>
              <p:spPr bwMode="auto">
                <a:xfrm>
                  <a:off x="2289" y="2919"/>
                  <a:ext cx="128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eaLnBrk="0" hangingPunct="0"/>
                  <a:r>
                    <a:rPr kumimoji="0" lang="en-US" altLang="ar-SA" b="1">
                      <a:latin typeface="Arial" panose="020B0604020202020204" pitchFamily="34" charset="0"/>
                    </a:rPr>
                    <a:t>FEEDBACK</a:t>
                  </a:r>
                </a:p>
              </p:txBody>
            </p:sp>
            <p:grpSp>
              <p:nvGrpSpPr>
                <p:cNvPr id="13" name="Group 10"/>
                <p:cNvGrpSpPr>
                  <a:grpSpLocks/>
                </p:cNvGrpSpPr>
                <p:nvPr/>
              </p:nvGrpSpPr>
              <p:grpSpPr bwMode="auto">
                <a:xfrm>
                  <a:off x="3472" y="2528"/>
                  <a:ext cx="1280" cy="512"/>
                  <a:chOff x="3472" y="2528"/>
                  <a:chExt cx="1280" cy="512"/>
                </a:xfrm>
              </p:grpSpPr>
              <p:sp>
                <p:nvSpPr>
                  <p:cNvPr id="16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472" y="3024"/>
                    <a:ext cx="1264" cy="0"/>
                  </a:xfrm>
                  <a:prstGeom prst="line">
                    <a:avLst/>
                  </a:prstGeom>
                  <a:noFill/>
                  <a:ln w="508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vi-VN"/>
                  </a:p>
                </p:txBody>
              </p:sp>
              <p:sp>
                <p:nvSpPr>
                  <p:cNvPr id="17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52" y="2528"/>
                    <a:ext cx="0" cy="512"/>
                  </a:xfrm>
                  <a:prstGeom prst="line">
                    <a:avLst/>
                  </a:prstGeom>
                  <a:noFill/>
                  <a:ln w="508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vi-VN"/>
                  </a:p>
                </p:txBody>
              </p:sp>
            </p:grpSp>
            <p:sp>
              <p:nvSpPr>
                <p:cNvPr id="14" name="Line 13"/>
                <p:cNvSpPr>
                  <a:spLocks noChangeShapeType="1"/>
                </p:cNvSpPr>
                <p:nvPr/>
              </p:nvSpPr>
              <p:spPr bwMode="auto">
                <a:xfrm>
                  <a:off x="960" y="2544"/>
                  <a:ext cx="0" cy="48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5" name="Line 14"/>
                <p:cNvSpPr>
                  <a:spLocks noChangeShapeType="1"/>
                </p:cNvSpPr>
                <p:nvPr/>
              </p:nvSpPr>
              <p:spPr bwMode="auto">
                <a:xfrm>
                  <a:off x="960" y="3024"/>
                  <a:ext cx="1264" cy="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</p:grpSp>
        <p:sp>
          <p:nvSpPr>
            <p:cNvPr id="18" name="TextBox 17"/>
            <p:cNvSpPr txBox="1"/>
            <p:nvPr/>
          </p:nvSpPr>
          <p:spPr>
            <a:xfrm>
              <a:off x="4844718" y="2086924"/>
              <a:ext cx="25635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</a:t>
              </a:r>
              <a:endPara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066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Composed of Subsystems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grpSp>
        <p:nvGrpSpPr>
          <p:cNvPr id="34" name="Group 33"/>
          <p:cNvGrpSpPr/>
          <p:nvPr/>
        </p:nvGrpSpPr>
        <p:grpSpPr>
          <a:xfrm>
            <a:off x="2750474" y="1737360"/>
            <a:ext cx="6752012" cy="5175250"/>
            <a:chOff x="2389088" y="1530350"/>
            <a:chExt cx="6752012" cy="517525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434366" y="2406650"/>
              <a:ext cx="1" cy="26670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4" name="Line 2"/>
            <p:cNvSpPr>
              <a:spLocks noChangeShapeType="1"/>
            </p:cNvSpPr>
            <p:nvPr/>
          </p:nvSpPr>
          <p:spPr bwMode="auto">
            <a:xfrm>
              <a:off x="5472013" y="6245330"/>
              <a:ext cx="536575" cy="307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2770088" y="3314700"/>
              <a:ext cx="0" cy="289560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8387368" y="2438400"/>
              <a:ext cx="3591" cy="26670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H="1">
              <a:off x="5506938" y="3390899"/>
              <a:ext cx="6350" cy="2854431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389088" y="62484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827488" y="6248400"/>
              <a:ext cx="2895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624038" y="25971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7615512" y="2667000"/>
              <a:ext cx="1525588" cy="763588"/>
            </a:xfrm>
            <a:custGeom>
              <a:avLst/>
              <a:gdLst>
                <a:gd name="T0" fmla="*/ 0 w 961"/>
                <a:gd name="T1" fmla="*/ 240 h 481"/>
                <a:gd name="T2" fmla="*/ 96 w 961"/>
                <a:gd name="T3" fmla="*/ 0 h 481"/>
                <a:gd name="T4" fmla="*/ 864 w 961"/>
                <a:gd name="T5" fmla="*/ 0 h 481"/>
                <a:gd name="T6" fmla="*/ 960 w 961"/>
                <a:gd name="T7" fmla="*/ 240 h 481"/>
                <a:gd name="T8" fmla="*/ 864 w 961"/>
                <a:gd name="T9" fmla="*/ 480 h 481"/>
                <a:gd name="T10" fmla="*/ 96 w 961"/>
                <a:gd name="T11" fmla="*/ 480 h 481"/>
                <a:gd name="T12" fmla="*/ 0 w 961"/>
                <a:gd name="T13" fmla="*/ 24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1" h="481">
                  <a:moveTo>
                    <a:pt x="0" y="240"/>
                  </a:moveTo>
                  <a:lnTo>
                    <a:pt x="96" y="0"/>
                  </a:lnTo>
                  <a:lnTo>
                    <a:pt x="864" y="0"/>
                  </a:lnTo>
                  <a:lnTo>
                    <a:pt x="960" y="240"/>
                  </a:lnTo>
                  <a:lnTo>
                    <a:pt x="864" y="480"/>
                  </a:lnTo>
                  <a:lnTo>
                    <a:pt x="96" y="480"/>
                  </a:lnTo>
                  <a:lnTo>
                    <a:pt x="0" y="240"/>
                  </a:lnTo>
                </a:path>
              </a:pathLst>
            </a:cu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5894288" y="5867400"/>
              <a:ext cx="1525588" cy="763588"/>
            </a:xfrm>
            <a:custGeom>
              <a:avLst/>
              <a:gdLst>
                <a:gd name="T0" fmla="*/ 0 w 961"/>
                <a:gd name="T1" fmla="*/ 240 h 481"/>
                <a:gd name="T2" fmla="*/ 96 w 961"/>
                <a:gd name="T3" fmla="*/ 0 h 481"/>
                <a:gd name="T4" fmla="*/ 864 w 961"/>
                <a:gd name="T5" fmla="*/ 0 h 481"/>
                <a:gd name="T6" fmla="*/ 960 w 961"/>
                <a:gd name="T7" fmla="*/ 240 h 481"/>
                <a:gd name="T8" fmla="*/ 864 w 961"/>
                <a:gd name="T9" fmla="*/ 480 h 481"/>
                <a:gd name="T10" fmla="*/ 96 w 961"/>
                <a:gd name="T11" fmla="*/ 480 h 481"/>
                <a:gd name="T12" fmla="*/ 0 w 961"/>
                <a:gd name="T13" fmla="*/ 24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1" h="481">
                  <a:moveTo>
                    <a:pt x="0" y="240"/>
                  </a:moveTo>
                  <a:lnTo>
                    <a:pt x="96" y="0"/>
                  </a:lnTo>
                  <a:lnTo>
                    <a:pt x="864" y="0"/>
                  </a:lnTo>
                  <a:lnTo>
                    <a:pt x="960" y="240"/>
                  </a:lnTo>
                  <a:lnTo>
                    <a:pt x="864" y="480"/>
                  </a:lnTo>
                  <a:lnTo>
                    <a:pt x="96" y="480"/>
                  </a:lnTo>
                  <a:lnTo>
                    <a:pt x="0" y="240"/>
                  </a:lnTo>
                </a:path>
              </a:pathLst>
            </a:cu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vi-VN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081238" y="37401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3081238" y="48069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Subsys A-2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081238" y="58737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Subsys A-3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824438" y="48069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SubsysB-2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5824438" y="37401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SubsysB-1</a:t>
              </a: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5443438" y="26733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5443438" y="1530350"/>
              <a:ext cx="1511300" cy="749300"/>
            </a:xfrm>
            <a:prstGeom prst="rect">
              <a:avLst/>
            </a:prstGeom>
            <a:gradFill rotWithShape="0">
              <a:gsLst>
                <a:gs pos="0">
                  <a:srgbClr val="00DFCA">
                    <a:gamma/>
                    <a:shade val="29804"/>
                    <a:invGamma/>
                  </a:srgbClr>
                </a:gs>
                <a:gs pos="50000">
                  <a:srgbClr val="00DFCA"/>
                </a:gs>
                <a:gs pos="100000">
                  <a:srgbClr val="00DFCA">
                    <a:gamma/>
                    <a:shade val="29804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6199088" y="2324100"/>
              <a:ext cx="0" cy="30480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V="1">
              <a:off x="3390893" y="2420938"/>
              <a:ext cx="5036816" cy="17462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2731988" y="4114800"/>
              <a:ext cx="304800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731988" y="5181600"/>
              <a:ext cx="304800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731988" y="6248400"/>
              <a:ext cx="304800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5551388" y="4114800"/>
              <a:ext cx="228600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5551388" y="5181600"/>
              <a:ext cx="228600" cy="0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5559326" y="1627188"/>
              <a:ext cx="1268412" cy="515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kumimoji="0" lang="en-US" altLang="ar-SA" sz="2800" b="1">
                  <a:solidFill>
                    <a:srgbClr val="6600CC"/>
                  </a:solidFill>
                </a:rPr>
                <a:t>System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2389088" y="2814638"/>
              <a:ext cx="1925638" cy="423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Subsys A</a:t>
              </a: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5356126" y="2814638"/>
              <a:ext cx="1685925" cy="423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Subsys B</a:t>
              </a: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7728131" y="2692400"/>
              <a:ext cx="1314450" cy="758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kumimoji="0" lang="en-US" altLang="ar-SA" sz="2200" dirty="0">
                  <a:solidFill>
                    <a:srgbClr val="6600CC"/>
                  </a:solidFill>
                </a:rPr>
                <a:t>Elemental</a:t>
              </a:r>
            </a:p>
            <a:p>
              <a:pPr algn="ctr" eaLnBrk="0" hangingPunct="0"/>
              <a:r>
                <a:rPr kumimoji="0" lang="en-US" altLang="ar-SA" sz="2200" dirty="0">
                  <a:solidFill>
                    <a:srgbClr val="6600CC"/>
                  </a:solidFill>
                </a:rPr>
                <a:t>   Part C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3028851" y="3957638"/>
              <a:ext cx="1647825" cy="423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Subsys A-1</a:t>
              </a: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6005413" y="5915025"/>
              <a:ext cx="1314450" cy="758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Elemental</a:t>
              </a:r>
            </a:p>
            <a:p>
              <a:pPr algn="ctr" eaLnBrk="0" hangingPunct="0"/>
              <a:r>
                <a:rPr kumimoji="0" lang="en-US" altLang="ar-SA" sz="2200">
                  <a:solidFill>
                    <a:srgbClr val="6600CC"/>
                  </a:solidFill>
                </a:rPr>
                <a:t>  part B1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4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subsystem?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3200" dirty="0" smtClean="0"/>
              <a:t>A </a:t>
            </a:r>
            <a:r>
              <a:rPr lang="en-US" sz="3200" dirty="0"/>
              <a:t>subsystem is simply a </a:t>
            </a:r>
            <a:r>
              <a:rPr lang="en-US" sz="3200" dirty="0">
                <a:solidFill>
                  <a:srgbClr val="FF0000"/>
                </a:solidFill>
              </a:rPr>
              <a:t>system within a system</a:t>
            </a:r>
            <a:r>
              <a:rPr lang="en-US" sz="3200" dirty="0"/>
              <a:t>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 smtClean="0"/>
              <a:t>Example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 smtClean="0"/>
              <a:t>Automobile </a:t>
            </a:r>
            <a:r>
              <a:rPr lang="en-US" sz="2200" dirty="0"/>
              <a:t>is a system composed of subsystems: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200" dirty="0"/>
              <a:t>Engine system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200" dirty="0"/>
              <a:t>Body system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200" dirty="0"/>
              <a:t>Frame system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Each of these subsystem is composed of sub-sub --systems.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200" dirty="0"/>
              <a:t>Engine system: carburetor system, generator system, fuel </a:t>
            </a:r>
            <a:r>
              <a:rPr lang="en-US" sz="2200" dirty="0" smtClean="0"/>
              <a:t>system …</a:t>
            </a:r>
            <a:endParaRPr lang="vi-VN" sz="2200" dirty="0"/>
          </a:p>
        </p:txBody>
      </p:sp>
    </p:spTree>
    <p:extLst>
      <p:ext uri="{BB962C8B-B14F-4D97-AF65-F5344CB8AC3E}">
        <p14:creationId xmlns:p14="http://schemas.microsoft.com/office/powerpoint/2010/main" val="98660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 system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Fail </a:t>
            </a:r>
            <a:r>
              <a:rPr lang="en-US" sz="2800" dirty="0"/>
              <a:t>to meet requirements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Poor performance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Poor reliability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Lack of usability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Example difficulties: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Not </a:t>
            </a:r>
            <a:r>
              <a:rPr lang="en-US" sz="2400" dirty="0"/>
              <a:t>to schedule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Not </a:t>
            </a:r>
            <a:r>
              <a:rPr lang="en-US" sz="2400" dirty="0"/>
              <a:t>to budget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Runaway </a:t>
            </a:r>
            <a:r>
              <a:rPr lang="en-US" sz="2400" dirty="0"/>
              <a:t>= 100% over budget or </a:t>
            </a:r>
            <a:r>
              <a:rPr lang="en-US" sz="2400" dirty="0" smtClean="0"/>
              <a:t>schedule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054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Information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b="1" dirty="0" smtClean="0"/>
              <a:t>Data</a:t>
            </a:r>
            <a:r>
              <a:rPr lang="en-US" sz="2800" dirty="0" smtClean="0"/>
              <a:t> </a:t>
            </a:r>
            <a:r>
              <a:rPr lang="en-US" sz="2800" dirty="0"/>
              <a:t>are </a:t>
            </a:r>
            <a:r>
              <a:rPr lang="en-US" sz="2800" dirty="0">
                <a:solidFill>
                  <a:srgbClr val="FF0000"/>
                </a:solidFill>
              </a:rPr>
              <a:t>raw facts</a:t>
            </a:r>
            <a:r>
              <a:rPr lang="en-US" sz="2800" dirty="0"/>
              <a:t> about the </a:t>
            </a:r>
            <a:r>
              <a:rPr lang="en-US" sz="2800" dirty="0">
                <a:solidFill>
                  <a:srgbClr val="FF0000"/>
                </a:solidFill>
              </a:rPr>
              <a:t>organization</a:t>
            </a:r>
            <a:r>
              <a:rPr lang="en-US" sz="2800" dirty="0"/>
              <a:t> and its </a:t>
            </a:r>
            <a:r>
              <a:rPr lang="en-US" sz="2800" dirty="0">
                <a:solidFill>
                  <a:srgbClr val="FF0000"/>
                </a:solidFill>
              </a:rPr>
              <a:t>business transactions</a:t>
            </a:r>
            <a:r>
              <a:rPr lang="en-US" sz="2800" dirty="0"/>
              <a:t>. Most data items have little meaning and use by themselves.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Data </a:t>
            </a:r>
            <a:r>
              <a:rPr lang="en-US" sz="2800" dirty="0"/>
              <a:t>are a collection of items such as words, numbers, images, and sounds that are </a:t>
            </a:r>
            <a:r>
              <a:rPr lang="en-US" sz="2800" dirty="0">
                <a:solidFill>
                  <a:srgbClr val="FF0000"/>
                </a:solidFill>
              </a:rPr>
              <a:t>not organized</a:t>
            </a:r>
            <a:r>
              <a:rPr lang="en-US" sz="2800" dirty="0"/>
              <a:t> and have </a:t>
            </a:r>
            <a:r>
              <a:rPr lang="en-US" sz="2800" dirty="0">
                <a:solidFill>
                  <a:srgbClr val="FF0000"/>
                </a:solidFill>
              </a:rPr>
              <a:t>little meaning</a:t>
            </a:r>
            <a:r>
              <a:rPr lang="en-US" sz="2800" dirty="0"/>
              <a:t> </a:t>
            </a:r>
            <a:r>
              <a:rPr lang="en-US" sz="2800" dirty="0" smtClean="0"/>
              <a:t>individually.</a:t>
            </a: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Data </a:t>
            </a:r>
            <a:r>
              <a:rPr lang="en-US" sz="2800" dirty="0"/>
              <a:t>are raw facts about people, objects, and events in an </a:t>
            </a:r>
            <a:r>
              <a:rPr lang="en-US" sz="2800" dirty="0" smtClean="0"/>
              <a:t>organization.</a:t>
            </a: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b="1" dirty="0" smtClean="0"/>
              <a:t>Information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FF0000"/>
                </a:solidFill>
              </a:rPr>
              <a:t>Data that is organized</a:t>
            </a:r>
          </a:p>
          <a:p>
            <a:pPr algn="just"/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583405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Information System?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</a:rPr>
              <a:t>Interrelated components</a:t>
            </a:r>
            <a:r>
              <a:rPr lang="en-US" sz="2800" dirty="0"/>
              <a:t> working together to </a:t>
            </a:r>
          </a:p>
          <a:p>
            <a:pPr lvl="1" algn="just"/>
            <a:r>
              <a:rPr lang="en-US" sz="2600" dirty="0"/>
              <a:t>Collect</a:t>
            </a:r>
          </a:p>
          <a:p>
            <a:pPr lvl="1" algn="just"/>
            <a:r>
              <a:rPr lang="en-US" sz="2600" dirty="0"/>
              <a:t>Process</a:t>
            </a:r>
          </a:p>
          <a:p>
            <a:pPr lvl="1" algn="just"/>
            <a:r>
              <a:rPr lang="en-US" sz="2600" dirty="0"/>
              <a:t>Store</a:t>
            </a:r>
          </a:p>
          <a:p>
            <a:pPr lvl="1" algn="just"/>
            <a:r>
              <a:rPr lang="en-US" sz="2600" dirty="0"/>
              <a:t>Disseminate information</a:t>
            </a:r>
          </a:p>
          <a:p>
            <a:pPr algn="just"/>
            <a:r>
              <a:rPr lang="en-US" sz="2800" dirty="0" smtClean="0"/>
              <a:t>to </a:t>
            </a:r>
            <a:r>
              <a:rPr lang="en-US" sz="2800" dirty="0"/>
              <a:t>support decision </a:t>
            </a:r>
            <a:r>
              <a:rPr lang="en-US" sz="2800" dirty="0" smtClean="0"/>
              <a:t>making, control</a:t>
            </a:r>
            <a:r>
              <a:rPr lang="en-US" sz="2800" dirty="0"/>
              <a:t>, analysis and visualization in an </a:t>
            </a:r>
            <a:r>
              <a:rPr lang="en-US" sz="2800" dirty="0" smtClean="0"/>
              <a:t>organization.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02083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Information System?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a  system  that  provides the </a:t>
            </a:r>
            <a:r>
              <a:rPr lang="en-US" sz="2800" dirty="0" smtClean="0">
                <a:solidFill>
                  <a:srgbClr val="FF0000"/>
                </a:solidFill>
              </a:rPr>
              <a:t>information needed</a:t>
            </a:r>
            <a:r>
              <a:rPr lang="en-US" sz="2800" dirty="0" smtClean="0"/>
              <a:t> to </a:t>
            </a:r>
            <a:r>
              <a:rPr lang="en-US" sz="2800" dirty="0" smtClean="0">
                <a:solidFill>
                  <a:srgbClr val="002060"/>
                </a:solidFill>
              </a:rPr>
              <a:t>accomplish the organization’s tasks</a:t>
            </a:r>
            <a:r>
              <a:rPr lang="en-US" sz="2800" dirty="0" smtClean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 smtClean="0">
                <a:solidFill>
                  <a:srgbClr val="FF0000"/>
                </a:solidFill>
              </a:rPr>
              <a:t>computer based information system</a:t>
            </a:r>
            <a:r>
              <a:rPr lang="en-US" sz="2800" dirty="0" smtClean="0"/>
              <a:t> uses computers to provide  the needed information.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 algn="just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80108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types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vi-VN" sz="2800" dirty="0" smtClean="0"/>
              <a:t> Transaction </a:t>
            </a:r>
            <a:r>
              <a:rPr lang="vi-VN" sz="2800" dirty="0"/>
              <a:t>Processing Systems (</a:t>
            </a:r>
            <a:r>
              <a:rPr lang="vi-VN" sz="2800" dirty="0">
                <a:solidFill>
                  <a:srgbClr val="FF0000"/>
                </a:solidFill>
              </a:rPr>
              <a:t>TPS</a:t>
            </a:r>
            <a:r>
              <a:rPr lang="vi-VN" sz="2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2800" dirty="0" smtClean="0"/>
              <a:t> Management </a:t>
            </a:r>
            <a:r>
              <a:rPr lang="vi-VN" sz="2800" dirty="0"/>
              <a:t>Information Systems (</a:t>
            </a:r>
            <a:r>
              <a:rPr lang="vi-VN" sz="2800" dirty="0">
                <a:solidFill>
                  <a:srgbClr val="FF0000"/>
                </a:solidFill>
              </a:rPr>
              <a:t>MIS</a:t>
            </a:r>
            <a:r>
              <a:rPr lang="vi-VN" sz="2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2800" dirty="0" smtClean="0"/>
              <a:t> Decision </a:t>
            </a:r>
            <a:r>
              <a:rPr lang="vi-VN" sz="2800" dirty="0"/>
              <a:t>Support Systems (</a:t>
            </a:r>
            <a:r>
              <a:rPr lang="vi-VN" sz="2800" dirty="0">
                <a:solidFill>
                  <a:srgbClr val="FF0000"/>
                </a:solidFill>
              </a:rPr>
              <a:t>DSS</a:t>
            </a:r>
            <a:r>
              <a:rPr lang="vi-VN" sz="2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vi-VN" sz="2800" dirty="0" smtClean="0"/>
              <a:t> Expert </a:t>
            </a:r>
            <a:r>
              <a:rPr lang="vi-VN" sz="2800" dirty="0"/>
              <a:t>System and Artificial Intelligence (</a:t>
            </a:r>
            <a:r>
              <a:rPr lang="vi-VN" sz="2800" dirty="0">
                <a:solidFill>
                  <a:srgbClr val="FF0000"/>
                </a:solidFill>
              </a:rPr>
              <a:t>ES &amp;AI</a:t>
            </a:r>
            <a:r>
              <a:rPr lang="vi-VN" sz="2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03240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Transaction Processing Systems (TPS)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TPS </a:t>
            </a:r>
            <a:r>
              <a:rPr lang="en-US" sz="2800" dirty="0"/>
              <a:t>are computerized information systems that were developed </a:t>
            </a:r>
            <a:r>
              <a:rPr lang="en-US" sz="2800" dirty="0" smtClean="0"/>
              <a:t>to </a:t>
            </a:r>
            <a:r>
              <a:rPr lang="en-US" sz="2800" dirty="0" smtClean="0">
                <a:solidFill>
                  <a:srgbClr val="FF0000"/>
                </a:solidFill>
              </a:rPr>
              <a:t>automate </a:t>
            </a:r>
            <a:r>
              <a:rPr lang="en-US" sz="2800" dirty="0">
                <a:solidFill>
                  <a:srgbClr val="FF0000"/>
                </a:solidFill>
              </a:rPr>
              <a:t>the handling of data about business activities and </a:t>
            </a:r>
            <a:r>
              <a:rPr lang="en-US" sz="2800" dirty="0" smtClean="0">
                <a:solidFill>
                  <a:srgbClr val="FF0000"/>
                </a:solidFill>
              </a:rPr>
              <a:t>transactions</a:t>
            </a:r>
            <a:r>
              <a:rPr lang="en-US" sz="2800" dirty="0" smtClean="0"/>
              <a:t>. </a:t>
            </a:r>
            <a:endParaRPr lang="en-US" sz="2800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Data about each transaction are captured,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Transactions are verified and accepted/rejected,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Validation transactions are stored for later aggregation.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Report may be produced to provide summarization of the </a:t>
            </a:r>
            <a:r>
              <a:rPr lang="en-US" sz="2600" dirty="0" smtClean="0"/>
              <a:t>transactions</a:t>
            </a:r>
            <a:r>
              <a:rPr lang="en-US" sz="2600" dirty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Transaction may be moved from process to process in order to handle all aspects of the business activities.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81755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Management Information Systems (MIS)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smtClean="0"/>
              <a:t>Serves </a:t>
            </a:r>
            <a:r>
              <a:rPr lang="en-US" sz="2800" dirty="0"/>
              <a:t>the functions of </a:t>
            </a:r>
            <a:r>
              <a:rPr lang="en-US" sz="2800" dirty="0">
                <a:solidFill>
                  <a:srgbClr val="FF0000"/>
                </a:solidFill>
              </a:rPr>
              <a:t>planning, controlling, and decision making</a:t>
            </a:r>
            <a:r>
              <a:rPr lang="en-US" sz="2800" dirty="0"/>
              <a:t> by providing routine summary and exception reports.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Takes </a:t>
            </a:r>
            <a:r>
              <a:rPr lang="en-US" sz="2800" dirty="0"/>
              <a:t>the relatively raw data available through a TPS and converts them into a </a:t>
            </a:r>
            <a:r>
              <a:rPr lang="en-US" sz="2800" dirty="0">
                <a:solidFill>
                  <a:srgbClr val="FF0000"/>
                </a:solidFill>
              </a:rPr>
              <a:t>meaningful aggregated form that </a:t>
            </a:r>
            <a:r>
              <a:rPr lang="en-US" sz="2800" dirty="0" smtClean="0">
                <a:solidFill>
                  <a:srgbClr val="FF0000"/>
                </a:solidFill>
              </a:rPr>
              <a:t>managers </a:t>
            </a:r>
            <a:r>
              <a:rPr lang="en-US" sz="2800" dirty="0">
                <a:solidFill>
                  <a:srgbClr val="FF0000"/>
                </a:solidFill>
              </a:rPr>
              <a:t>need to conduct their responsibilities</a:t>
            </a:r>
            <a:r>
              <a:rPr lang="en-US" sz="2800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Developing an MIS calls for a good understanding of what kind of information managers require and how managers use information in their jobs.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336825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Decision Support </a:t>
            </a:r>
            <a:r>
              <a:rPr lang="vi-VN" dirty="0" smtClean="0"/>
              <a:t>systems (DSS</a:t>
            </a:r>
            <a:r>
              <a:rPr lang="vi-VN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 Combines </a:t>
            </a:r>
            <a:r>
              <a:rPr lang="en-US" sz="3200" dirty="0">
                <a:solidFill>
                  <a:srgbClr val="FF0000"/>
                </a:solidFill>
              </a:rPr>
              <a:t>data and sophisticated analytical models or data analysis tools</a:t>
            </a:r>
            <a:r>
              <a:rPr lang="en-US" sz="3200" dirty="0"/>
              <a:t> to support semi-structured and unstructured decision making.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 A </a:t>
            </a:r>
            <a:r>
              <a:rPr lang="en-US" sz="3200" dirty="0"/>
              <a:t>DSS is composed of a: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Database ( may be extracted from a TPS/MIS</a:t>
            </a:r>
            <a:r>
              <a:rPr lang="en-US" sz="2800" dirty="0" smtClean="0"/>
              <a:t>).  </a:t>
            </a:r>
            <a:endParaRPr lang="en-US" sz="2800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Graphical/mathematical models for business </a:t>
            </a:r>
            <a:r>
              <a:rPr lang="en-US" sz="2800" dirty="0" smtClean="0"/>
              <a:t>process.</a:t>
            </a:r>
            <a:endParaRPr lang="en-US" sz="2800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User interface that provides a way to communicate with </a:t>
            </a:r>
            <a:r>
              <a:rPr lang="en-US" sz="2800" dirty="0" smtClean="0"/>
              <a:t>DSS.</a:t>
            </a: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75737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 and Artificial Intelligence (ES &amp; AI)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Describes </a:t>
            </a:r>
            <a:r>
              <a:rPr lang="en-US" sz="2800" dirty="0">
                <a:solidFill>
                  <a:srgbClr val="FF0000"/>
                </a:solidFill>
              </a:rPr>
              <a:t>the way an expert would approach the problem</a:t>
            </a:r>
            <a:r>
              <a:rPr lang="en-US" sz="2800" dirty="0"/>
              <a:t>. It attempts to codify and manipulate knowledge rather than information, (for </a:t>
            </a:r>
            <a:r>
              <a:rPr lang="en-US" sz="2800" dirty="0" smtClean="0"/>
              <a:t>example If </a:t>
            </a:r>
            <a:r>
              <a:rPr lang="en-US" sz="2800" dirty="0"/>
              <a:t>.. Then rule)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User communication with an ES via an interactive dialogue.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ES asks questions</a:t>
            </a:r>
            <a:r>
              <a:rPr lang="en-US" sz="2800" dirty="0"/>
              <a:t> </a:t>
            </a:r>
            <a:r>
              <a:rPr lang="en-US" sz="2800" dirty="0" smtClean="0"/>
              <a:t>(that </a:t>
            </a:r>
            <a:r>
              <a:rPr lang="en-US" sz="2800" dirty="0"/>
              <a:t>an expert would ask) and the </a:t>
            </a:r>
            <a:r>
              <a:rPr lang="en-US" sz="2800" dirty="0">
                <a:solidFill>
                  <a:srgbClr val="FF0000"/>
                </a:solidFill>
              </a:rPr>
              <a:t>end user supplies the answers</a:t>
            </a:r>
            <a:r>
              <a:rPr lang="en-US" sz="28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The answers are then used to determine which rules apply and the ES provides a recommendation based on the rule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033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Information Systems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 descr="whi15393_02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005" y="1737360"/>
            <a:ext cx="7600950" cy="481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37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Persons </a:t>
            </a:r>
            <a:r>
              <a:rPr lang="en-US" sz="3200" dirty="0"/>
              <a:t>who </a:t>
            </a:r>
            <a:r>
              <a:rPr lang="en-US" sz="3200" dirty="0" smtClean="0">
                <a:solidFill>
                  <a:srgbClr val="FF0000"/>
                </a:solidFill>
              </a:rPr>
              <a:t>have </a:t>
            </a:r>
            <a:r>
              <a:rPr lang="en-US" sz="3200" dirty="0">
                <a:solidFill>
                  <a:srgbClr val="FF0000"/>
                </a:solidFill>
              </a:rPr>
              <a:t>an interest in</a:t>
            </a:r>
            <a:r>
              <a:rPr lang="en-US" sz="3200" dirty="0"/>
              <a:t> an existing or new information system. </a:t>
            </a:r>
            <a:endParaRPr lang="en-US" sz="32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Stakeholders </a:t>
            </a:r>
            <a:r>
              <a:rPr lang="en-US" sz="3200" dirty="0"/>
              <a:t>can be </a:t>
            </a:r>
            <a:r>
              <a:rPr lang="en-US" sz="3200" dirty="0">
                <a:solidFill>
                  <a:srgbClr val="FF0000"/>
                </a:solidFill>
              </a:rPr>
              <a:t>technical or nontechnical</a:t>
            </a:r>
            <a:r>
              <a:rPr lang="en-US" sz="3200" dirty="0"/>
              <a:t> workers.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251415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Stakeholders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IS </a:t>
            </a:r>
            <a:r>
              <a:rPr lang="en-US" sz="2800" dirty="0"/>
              <a:t>manger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Systems </a:t>
            </a:r>
            <a:r>
              <a:rPr lang="en-US" sz="2800" dirty="0">
                <a:solidFill>
                  <a:srgbClr val="FF0000"/>
                </a:solidFill>
              </a:rPr>
              <a:t>analysts</a:t>
            </a:r>
            <a:r>
              <a:rPr lang="en-US" sz="2800" dirty="0"/>
              <a:t> in systems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Programmers</a:t>
            </a:r>
            <a:r>
              <a:rPr lang="en-US" sz="2800" dirty="0" smtClean="0"/>
              <a:t> </a:t>
            </a:r>
            <a:r>
              <a:rPr lang="en-US" sz="2800" dirty="0"/>
              <a:t>in systems development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End </a:t>
            </a:r>
            <a:r>
              <a:rPr lang="en-US" sz="2800" dirty="0"/>
              <a:t>user in systems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Supporting </a:t>
            </a:r>
            <a:r>
              <a:rPr lang="en-US" sz="2800" dirty="0"/>
              <a:t>End user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Business </a:t>
            </a:r>
            <a:r>
              <a:rPr lang="en-US" sz="2800" dirty="0"/>
              <a:t>managers in systems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Other </a:t>
            </a:r>
            <a:r>
              <a:rPr lang="en-US" sz="2800" dirty="0"/>
              <a:t>IS mangers/Technicians in system development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55666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Systems Analysts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key individuals</a:t>
            </a:r>
            <a:r>
              <a:rPr lang="en-US" sz="2800" dirty="0"/>
              <a:t> in the systems development process.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A </a:t>
            </a:r>
            <a:r>
              <a:rPr lang="en-US" sz="2800" dirty="0"/>
              <a:t>systems analyst </a:t>
            </a:r>
            <a:r>
              <a:rPr lang="en-US" sz="2800" dirty="0">
                <a:solidFill>
                  <a:srgbClr val="FF0000"/>
                </a:solidFill>
              </a:rPr>
              <a:t>studies the problems and needs</a:t>
            </a:r>
            <a:r>
              <a:rPr lang="en-US" sz="2800" dirty="0"/>
              <a:t> of an organization to determine </a:t>
            </a:r>
            <a:r>
              <a:rPr lang="en-US" sz="2800" dirty="0">
                <a:solidFill>
                  <a:srgbClr val="FF0000"/>
                </a:solidFill>
              </a:rPr>
              <a:t>how people, data, processes, communications, and information technology can best accomplish improvements for the business</a:t>
            </a:r>
            <a:r>
              <a:rPr lang="en-US" sz="2800" dirty="0"/>
              <a:t>.</a:t>
            </a:r>
          </a:p>
          <a:p>
            <a:pPr marL="0" indent="0" algn="just">
              <a:buNone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423422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of a Successful Systems Analyst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Analytical </a:t>
            </a:r>
            <a:r>
              <a:rPr lang="en-US" sz="2400" dirty="0">
                <a:solidFill>
                  <a:srgbClr val="FF0000"/>
                </a:solidFill>
              </a:rPr>
              <a:t>skills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Understanding of organizations.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Problem solving skills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System </a:t>
            </a:r>
            <a:r>
              <a:rPr lang="en-US" sz="2000" dirty="0" smtClean="0"/>
              <a:t>thinking</a:t>
            </a: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Technical </a:t>
            </a:r>
            <a:r>
              <a:rPr lang="en-US" sz="2400" dirty="0">
                <a:solidFill>
                  <a:srgbClr val="FF0000"/>
                </a:solidFill>
              </a:rPr>
              <a:t>skills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Understanding of potential and limitations of technology.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Managerial </a:t>
            </a:r>
            <a:r>
              <a:rPr lang="en-US" sz="2400" dirty="0">
                <a:solidFill>
                  <a:srgbClr val="FF0000"/>
                </a:solidFill>
              </a:rPr>
              <a:t>skills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Ability </a:t>
            </a:r>
            <a:r>
              <a:rPr lang="en-US" sz="2000" dirty="0"/>
              <a:t>to manage projects, resources, risk and change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</a:t>
            </a:r>
            <a:r>
              <a:rPr lang="en-US" sz="2400" dirty="0">
                <a:solidFill>
                  <a:srgbClr val="FF0000"/>
                </a:solidFill>
              </a:rPr>
              <a:t>Interpersonal skills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Effective </a:t>
            </a:r>
            <a:r>
              <a:rPr lang="en-US" sz="2000" dirty="0"/>
              <a:t>written and oral </a:t>
            </a:r>
            <a:r>
              <a:rPr lang="en-US" sz="2000" dirty="0" smtClean="0"/>
              <a:t>communication skills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93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Systems Analyst as a Facilitator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 descr="whi15393_01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131" y="1524000"/>
            <a:ext cx="7194698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36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Required by Systems Analysts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Working </a:t>
            </a:r>
            <a:r>
              <a:rPr lang="en-US" sz="2400" dirty="0"/>
              <a:t>knowledge of information technology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Computer </a:t>
            </a:r>
            <a:r>
              <a:rPr lang="en-US" sz="2400" dirty="0"/>
              <a:t>programming experience and expertise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General </a:t>
            </a:r>
            <a:r>
              <a:rPr lang="en-US" sz="2400" dirty="0"/>
              <a:t>business knowledge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Problem-solving </a:t>
            </a:r>
            <a:r>
              <a:rPr lang="en-US" sz="2400" dirty="0"/>
              <a:t>skills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Interpersonal </a:t>
            </a:r>
            <a:r>
              <a:rPr lang="en-US" sz="2400" dirty="0"/>
              <a:t>communication skills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Interpersonal </a:t>
            </a:r>
            <a:r>
              <a:rPr lang="en-US" sz="2400" dirty="0"/>
              <a:t>relations skills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Character </a:t>
            </a:r>
            <a:r>
              <a:rPr lang="en-US" sz="2400" dirty="0"/>
              <a:t>and ethics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 Systems </a:t>
            </a:r>
            <a:r>
              <a:rPr lang="en-US" sz="2400" dirty="0"/>
              <a:t>analysis and design skills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90235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Programmers in systems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Programmers </a:t>
            </a:r>
            <a:r>
              <a:rPr lang="en-US" sz="2800" dirty="0">
                <a:solidFill>
                  <a:srgbClr val="FF0000"/>
                </a:solidFill>
              </a:rPr>
              <a:t>convert the specifications</a:t>
            </a:r>
            <a:r>
              <a:rPr lang="en-US" sz="2800" dirty="0"/>
              <a:t> given to them by the analysts </a:t>
            </a:r>
            <a:r>
              <a:rPr lang="en-US" sz="2800" dirty="0">
                <a:solidFill>
                  <a:srgbClr val="FF0000"/>
                </a:solidFill>
              </a:rPr>
              <a:t>into instructions</a:t>
            </a:r>
            <a:r>
              <a:rPr lang="en-US" sz="2800" dirty="0"/>
              <a:t> the computer can understand.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Coding</a:t>
            </a:r>
            <a:r>
              <a:rPr lang="en-US" sz="2800" dirty="0"/>
              <a:t>:  writing a computer program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Code generators</a:t>
            </a:r>
            <a:r>
              <a:rPr lang="en-US" sz="2800" dirty="0" smtClean="0"/>
              <a:t> have been developed to generate code from specifications, saving an organization time and money.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The aim of </a:t>
            </a:r>
            <a:r>
              <a:rPr lang="en-US" sz="2800" dirty="0" smtClean="0">
                <a:solidFill>
                  <a:srgbClr val="FF0000"/>
                </a:solidFill>
              </a:rPr>
              <a:t>CASE</a:t>
            </a:r>
            <a:r>
              <a:rPr lang="en-US" sz="2800" dirty="0" smtClean="0"/>
              <a:t> tools (Computer-Aided Software Engineering) is to provide a variety of code generators that can automatically produce 90% or more from the system specifications normally given a programmer.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458211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 and Design (SAD)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Systems Analysis</a:t>
            </a:r>
            <a:r>
              <a:rPr lang="en-US" sz="2800" dirty="0" smtClean="0"/>
              <a:t>: </a:t>
            </a:r>
            <a:r>
              <a:rPr lang="en-US" sz="2800" dirty="0" smtClean="0">
                <a:solidFill>
                  <a:srgbClr val="0070C0"/>
                </a:solidFill>
              </a:rPr>
              <a:t>understanding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rgbClr val="0070C0"/>
                </a:solidFill>
              </a:rPr>
              <a:t>specifying</a:t>
            </a:r>
            <a:r>
              <a:rPr lang="en-US" sz="2800" dirty="0" smtClean="0"/>
              <a:t> in detail what an </a:t>
            </a:r>
            <a:r>
              <a:rPr lang="en-US" sz="2800" dirty="0" smtClean="0">
                <a:solidFill>
                  <a:srgbClr val="0070C0"/>
                </a:solidFill>
              </a:rPr>
              <a:t>information system should do</a:t>
            </a:r>
            <a:r>
              <a:rPr lang="en-US" sz="2800" dirty="0" smtClean="0"/>
              <a:t>.</a:t>
            </a: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System </a:t>
            </a:r>
            <a:r>
              <a:rPr lang="en-US" sz="2800" dirty="0">
                <a:solidFill>
                  <a:srgbClr val="FF0000"/>
                </a:solidFill>
              </a:rPr>
              <a:t>Design</a:t>
            </a:r>
            <a:r>
              <a:rPr lang="en-US" sz="2800" dirty="0"/>
              <a:t>: specifying in detail how the parts of an information system </a:t>
            </a:r>
            <a:r>
              <a:rPr lang="en-US" sz="2800" dirty="0">
                <a:solidFill>
                  <a:srgbClr val="0070C0"/>
                </a:solidFill>
              </a:rPr>
              <a:t>should be </a:t>
            </a:r>
            <a:r>
              <a:rPr lang="en-US" sz="2800" dirty="0" smtClean="0">
                <a:solidFill>
                  <a:srgbClr val="0070C0"/>
                </a:solidFill>
              </a:rPr>
              <a:t>implemented</a:t>
            </a:r>
            <a:r>
              <a:rPr lang="en-US" sz="2800" dirty="0" smtClean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Analysis</a:t>
            </a:r>
            <a:r>
              <a:rPr lang="en-US" sz="2800" dirty="0"/>
              <a:t>: defining the problem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 smtClean="0"/>
              <a:t>From </a:t>
            </a:r>
            <a:r>
              <a:rPr lang="en-US" sz="2600" dirty="0"/>
              <a:t>requirements to specification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Design</a:t>
            </a:r>
            <a:r>
              <a:rPr lang="en-US" sz="2800" dirty="0"/>
              <a:t>: solving the problem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/>
              <a:t>From specification to implementation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12571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Development Life Cycle (SDLC)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SDLC phases</a:t>
            </a:r>
            <a:endParaRPr lang="en-US" sz="3200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1-Project identification and selection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2-Project initiation and planning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3-Analysis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4-Design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4.1Logical design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/>
              <a:t>4.2Physical design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5-Implementation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800" dirty="0"/>
              <a:t>6-Maintenance</a:t>
            </a:r>
          </a:p>
          <a:p>
            <a:pPr marL="0" indent="0" algn="just">
              <a:buNone/>
            </a:pP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07051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Project identifying and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This </a:t>
            </a:r>
            <a:r>
              <a:rPr lang="en-US" sz="2800" dirty="0"/>
              <a:t>stage is </a:t>
            </a:r>
            <a:r>
              <a:rPr lang="en-US" sz="2800" dirty="0">
                <a:solidFill>
                  <a:srgbClr val="FF0000"/>
                </a:solidFill>
              </a:rPr>
              <a:t>critical to the success of the rest of the project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FF0000"/>
                </a:solidFill>
              </a:rPr>
              <a:t> People</a:t>
            </a:r>
            <a:endParaRPr lang="en-US" sz="28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Users, analyst, system managers coordinating the </a:t>
            </a:r>
            <a:r>
              <a:rPr lang="en-US" sz="2600" dirty="0" smtClean="0"/>
              <a:t>project.</a:t>
            </a:r>
            <a:endParaRPr lang="en-US" sz="2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Activities</a:t>
            </a:r>
            <a:endParaRPr lang="en-US" sz="28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Interviewing user management, summarizing the knowledge obtained  estimating the scope of the project and documenting the </a:t>
            </a:r>
            <a:r>
              <a:rPr lang="en-US" sz="2600" dirty="0" smtClean="0"/>
              <a:t>result.</a:t>
            </a:r>
            <a:endParaRPr lang="en-US" sz="2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Output</a:t>
            </a:r>
            <a:endParaRPr lang="en-US" sz="28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/>
              <a:t>Feasibility report: problem definition and summarizing the </a:t>
            </a:r>
            <a:r>
              <a:rPr lang="en-US" sz="2600" dirty="0" smtClean="0"/>
              <a:t>objectives.</a:t>
            </a:r>
            <a:endParaRPr lang="en-US" sz="2600" dirty="0"/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612199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initiation and planning  phase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 A </a:t>
            </a:r>
            <a:r>
              <a:rPr lang="en-US" sz="3200" dirty="0">
                <a:solidFill>
                  <a:srgbClr val="FF0000"/>
                </a:solidFill>
              </a:rPr>
              <a:t>detailed plan</a:t>
            </a:r>
            <a:r>
              <a:rPr lang="en-US" sz="3200" dirty="0"/>
              <a:t> is </a:t>
            </a:r>
            <a:r>
              <a:rPr lang="en-US" sz="3200" dirty="0" smtClean="0"/>
              <a:t>developed </a:t>
            </a:r>
            <a:r>
              <a:rPr lang="en-US" sz="3200" dirty="0"/>
              <a:t>for conducting the remaining  phases of the SDLC for the propose system</a:t>
            </a:r>
            <a:r>
              <a:rPr lang="en-US" sz="3200" dirty="0" smtClean="0"/>
              <a:t>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600" dirty="0" smtClean="0"/>
              <a:t>Detailed </a:t>
            </a:r>
            <a:r>
              <a:rPr lang="en-US" sz="2600" dirty="0"/>
              <a:t>step – work plan - high level system requirement –assignment of team </a:t>
            </a:r>
            <a:r>
              <a:rPr lang="en-US" sz="2600" dirty="0" smtClean="0"/>
              <a:t>members.</a:t>
            </a:r>
            <a:endParaRPr lang="en-US" sz="2600" dirty="0"/>
          </a:p>
          <a:p>
            <a:pPr algn="just">
              <a:buFont typeface="Wingdings" panose="05000000000000000000" pitchFamily="2" charset="2"/>
              <a:buChar char="§"/>
            </a:pP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894882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Analysis </a:t>
            </a:r>
            <a:r>
              <a:rPr lang="vi-VN" dirty="0"/>
              <a:t>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Description </a:t>
            </a:r>
            <a:r>
              <a:rPr lang="en-US" sz="2800" dirty="0"/>
              <a:t>of current </a:t>
            </a:r>
            <a:r>
              <a:rPr lang="en-US" sz="2800" dirty="0" smtClean="0"/>
              <a:t>system.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Where </a:t>
            </a:r>
            <a:r>
              <a:rPr lang="en-US" sz="2800" dirty="0"/>
              <a:t>problem and opportunities are with a general recommendation on </a:t>
            </a:r>
            <a:r>
              <a:rPr lang="en-US" sz="2800" dirty="0">
                <a:solidFill>
                  <a:srgbClr val="FF0000"/>
                </a:solidFill>
              </a:rPr>
              <a:t>how to fix, enhance or replace current </a:t>
            </a:r>
            <a:r>
              <a:rPr lang="en-US" sz="2800" dirty="0" smtClean="0">
                <a:solidFill>
                  <a:srgbClr val="FF0000"/>
                </a:solidFill>
              </a:rPr>
              <a:t>system.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There </a:t>
            </a:r>
            <a:r>
              <a:rPr lang="en-US" sz="2800" dirty="0"/>
              <a:t>are six primary activities in this </a:t>
            </a:r>
            <a:r>
              <a:rPr lang="en-US" sz="2800" dirty="0" smtClean="0"/>
              <a:t>phase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Gather </a:t>
            </a:r>
            <a:r>
              <a:rPr lang="en-US" sz="2400" dirty="0"/>
              <a:t>information.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Define </a:t>
            </a:r>
            <a:r>
              <a:rPr lang="en-US" sz="2400" dirty="0"/>
              <a:t>system requirements.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Build </a:t>
            </a:r>
            <a:r>
              <a:rPr lang="en-US" sz="2400" dirty="0"/>
              <a:t>prototypes for discovery of requirements 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Prioritize </a:t>
            </a:r>
            <a:r>
              <a:rPr lang="en-US" sz="2400" dirty="0"/>
              <a:t>requirements.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Generate </a:t>
            </a:r>
            <a:r>
              <a:rPr lang="en-US" sz="2400" dirty="0"/>
              <a:t>and evaluate alternatives.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smtClean="0"/>
              <a:t>Review </a:t>
            </a:r>
            <a:r>
              <a:rPr lang="en-US" sz="2400" dirty="0"/>
              <a:t>recommendations with </a:t>
            </a:r>
            <a:r>
              <a:rPr lang="en-US" sz="2400" dirty="0" smtClean="0"/>
              <a:t>management.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050118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Design </a:t>
            </a:r>
            <a:r>
              <a:rPr lang="vi-VN" dirty="0"/>
              <a:t>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description of the recommended solution</a:t>
            </a:r>
            <a:r>
              <a:rPr lang="en-US" sz="2800" dirty="0"/>
              <a:t> is converted into </a:t>
            </a:r>
            <a:r>
              <a:rPr lang="en-US" sz="2800" dirty="0">
                <a:solidFill>
                  <a:srgbClr val="FF0000"/>
                </a:solidFill>
              </a:rPr>
              <a:t>logical and then physical system specification</a:t>
            </a:r>
            <a:r>
              <a:rPr lang="en-US" sz="28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Logical design</a:t>
            </a:r>
            <a:endParaRPr lang="en-US" sz="2800" dirty="0">
              <a:solidFill>
                <a:srgbClr val="0070C0"/>
              </a:solidFill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/>
              <a:t>The part of the design phase of the SDLC in which all functional feature of the system chosen for development in analysis are described </a:t>
            </a:r>
            <a:r>
              <a:rPr lang="en-US" sz="2400" dirty="0">
                <a:solidFill>
                  <a:srgbClr val="FF0000"/>
                </a:solidFill>
              </a:rPr>
              <a:t>independently of any computer platform</a:t>
            </a:r>
            <a:r>
              <a:rPr lang="en-US" sz="24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Physical design</a:t>
            </a:r>
            <a:endParaRPr lang="en-US" sz="2800" dirty="0">
              <a:solidFill>
                <a:srgbClr val="0070C0"/>
              </a:solidFill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/>
              <a:t>The part of the design phase of the SDLC in which the logical specification of the system from logical design are transformed into </a:t>
            </a:r>
            <a:r>
              <a:rPr lang="en-US" sz="2400" dirty="0">
                <a:solidFill>
                  <a:srgbClr val="FF0000"/>
                </a:solidFill>
              </a:rPr>
              <a:t>technology specific details</a:t>
            </a:r>
            <a:r>
              <a:rPr lang="en-US" sz="2400" dirty="0"/>
              <a:t> from which all programming and system construction can be accomplished.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92346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Design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Seven </a:t>
            </a:r>
            <a:r>
              <a:rPr lang="en-US" sz="3200" dirty="0"/>
              <a:t>major activities must be done during </a:t>
            </a:r>
            <a:r>
              <a:rPr lang="en-US" sz="3200" dirty="0" smtClean="0"/>
              <a:t>design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 smtClean="0"/>
              <a:t>Design </a:t>
            </a:r>
            <a:r>
              <a:rPr lang="en-US" sz="2800" dirty="0"/>
              <a:t>and integrate the </a:t>
            </a:r>
            <a:r>
              <a:rPr lang="en-US" sz="2800" dirty="0">
                <a:solidFill>
                  <a:srgbClr val="FF0000"/>
                </a:solidFill>
              </a:rPr>
              <a:t>network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Design the </a:t>
            </a:r>
            <a:r>
              <a:rPr lang="en-US" sz="2800" dirty="0">
                <a:solidFill>
                  <a:srgbClr val="FF0000"/>
                </a:solidFill>
              </a:rPr>
              <a:t>application architecture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Design the </a:t>
            </a:r>
            <a:r>
              <a:rPr lang="en-US" sz="2800" dirty="0">
                <a:solidFill>
                  <a:srgbClr val="FF0000"/>
                </a:solidFill>
              </a:rPr>
              <a:t>user </a:t>
            </a:r>
            <a:r>
              <a:rPr lang="en-US" sz="2800" dirty="0" smtClean="0">
                <a:solidFill>
                  <a:srgbClr val="FF0000"/>
                </a:solidFill>
              </a:rPr>
              <a:t>interfaces</a:t>
            </a:r>
            <a:r>
              <a:rPr lang="en-US" sz="2800" dirty="0" smtClean="0"/>
              <a:t>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Design the </a:t>
            </a:r>
            <a:r>
              <a:rPr lang="en-US" sz="2800" dirty="0">
                <a:solidFill>
                  <a:srgbClr val="FF0000"/>
                </a:solidFill>
              </a:rPr>
              <a:t>system interfaces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Design and integrate the </a:t>
            </a:r>
            <a:r>
              <a:rPr lang="en-US" sz="2800" dirty="0">
                <a:solidFill>
                  <a:srgbClr val="FF0000"/>
                </a:solidFill>
              </a:rPr>
              <a:t>databases</a:t>
            </a:r>
            <a:r>
              <a:rPr lang="en-US" sz="280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Prototype for design details</a:t>
            </a:r>
            <a:r>
              <a:rPr lang="en-US" sz="2800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Design and integrate the </a:t>
            </a:r>
            <a:r>
              <a:rPr lang="en-US" sz="2800" dirty="0">
                <a:solidFill>
                  <a:srgbClr val="FF0000"/>
                </a:solidFill>
              </a:rPr>
              <a:t>system </a:t>
            </a:r>
            <a:r>
              <a:rPr lang="en-US" sz="2800" dirty="0" smtClean="0">
                <a:solidFill>
                  <a:srgbClr val="FF0000"/>
                </a:solidFill>
              </a:rPr>
              <a:t>controls.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70379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/>
              <a:t>fifth phase of the SDLC in which the information system is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Coded,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Tested,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Installed, and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Supported in the organization.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Outputs 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Code, documentation, training procedures and support </a:t>
            </a:r>
            <a:r>
              <a:rPr lang="en-US" sz="2400" dirty="0" smtClean="0"/>
              <a:t>capabilities.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4218290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Maintances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/>
              <a:t>final phase of the SDLC in which the information system is systematically </a:t>
            </a:r>
            <a:r>
              <a:rPr lang="en-US" sz="2800" dirty="0">
                <a:solidFill>
                  <a:srgbClr val="FF0000"/>
                </a:solidFill>
              </a:rPr>
              <a:t>repaired and </a:t>
            </a:r>
            <a:r>
              <a:rPr lang="en-US" sz="2800" dirty="0" smtClean="0">
                <a:solidFill>
                  <a:srgbClr val="FF0000"/>
                </a:solidFill>
              </a:rPr>
              <a:t>improved</a:t>
            </a:r>
            <a:r>
              <a:rPr lang="en-US" sz="2800" dirty="0" smtClean="0"/>
              <a:t>.</a:t>
            </a: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New </a:t>
            </a:r>
            <a:r>
              <a:rPr lang="en-US" sz="2800" dirty="0">
                <a:solidFill>
                  <a:srgbClr val="FF0000"/>
                </a:solidFill>
              </a:rPr>
              <a:t>versions of releases of software</a:t>
            </a:r>
            <a:r>
              <a:rPr lang="en-US" sz="2800" dirty="0"/>
              <a:t> with associated updates to documentation, training, and </a:t>
            </a:r>
            <a:r>
              <a:rPr lang="en-US" sz="2800" dirty="0" smtClean="0"/>
              <a:t>support.</a:t>
            </a:r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88961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Computer-Aided Systems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(CASE tools)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191896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Software </a:t>
            </a:r>
            <a:r>
              <a:rPr lang="en-US" sz="3200" dirty="0">
                <a:solidFill>
                  <a:srgbClr val="FF0000"/>
                </a:solidFill>
              </a:rPr>
              <a:t>programs</a:t>
            </a:r>
            <a:r>
              <a:rPr lang="en-US" sz="3200" dirty="0"/>
              <a:t> </a:t>
            </a:r>
            <a:r>
              <a:rPr lang="en-US" sz="3200" dirty="0" smtClean="0"/>
              <a:t>automate </a:t>
            </a:r>
            <a:r>
              <a:rPr lang="en-US" sz="3200" dirty="0"/>
              <a:t>or support the </a:t>
            </a:r>
            <a:r>
              <a:rPr lang="en-US" sz="3200" dirty="0">
                <a:solidFill>
                  <a:srgbClr val="FF0000"/>
                </a:solidFill>
              </a:rPr>
              <a:t>drawing and analysis of system models</a:t>
            </a:r>
            <a:r>
              <a:rPr lang="en-US" sz="3200" dirty="0"/>
              <a:t> and provide for the translation of system models into application programs</a:t>
            </a:r>
            <a:r>
              <a:rPr lang="en-US" sz="32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vi-VN" sz="3200" dirty="0"/>
          </a:p>
        </p:txBody>
      </p:sp>
      <p:pic>
        <p:nvPicPr>
          <p:cNvPr id="4" name="Picture 3" descr="whi15393_03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176" y="1737360"/>
            <a:ext cx="6629400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448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5547</TotalTime>
  <Words>1606</Words>
  <Application>Microsoft Office PowerPoint</Application>
  <PresentationFormat>Widescreen</PresentationFormat>
  <Paragraphs>212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Times New Roman</vt:lpstr>
      <vt:lpstr>Wingdings</vt:lpstr>
      <vt:lpstr>Retrospect</vt:lpstr>
      <vt:lpstr>System Analysis and Design </vt:lpstr>
      <vt:lpstr>Required Text Book</vt:lpstr>
      <vt:lpstr>Course Objective</vt:lpstr>
      <vt:lpstr>Chapter 1 - Introduction</vt:lpstr>
      <vt:lpstr>Key ideas</vt:lpstr>
      <vt:lpstr>What is a system?</vt:lpstr>
      <vt:lpstr>PowerPoint Presentation</vt:lpstr>
      <vt:lpstr>Systems  Can Be Composed of Subsystems</vt:lpstr>
      <vt:lpstr>What is a subsystem?</vt:lpstr>
      <vt:lpstr>Bad system</vt:lpstr>
      <vt:lpstr>Data and Information</vt:lpstr>
      <vt:lpstr>What is an Information System?</vt:lpstr>
      <vt:lpstr>What is an Information System?</vt:lpstr>
      <vt:lpstr>Information types</vt:lpstr>
      <vt:lpstr>Transaction Processing Systems (TPS)</vt:lpstr>
      <vt:lpstr>Management Information Systems (MIS)</vt:lpstr>
      <vt:lpstr>Decision Support systems (DSS) </vt:lpstr>
      <vt:lpstr>Expert System and Artificial Intelligence (ES &amp; AI)</vt:lpstr>
      <vt:lpstr>Information Systems Applications</vt:lpstr>
      <vt:lpstr>Stakeholders</vt:lpstr>
      <vt:lpstr>Stakeholders Classification</vt:lpstr>
      <vt:lpstr>Systems Analysts</vt:lpstr>
      <vt:lpstr>Skills of a Successful Systems Analyst</vt:lpstr>
      <vt:lpstr>The Systems Analyst as a Facilitator</vt:lpstr>
      <vt:lpstr>Skills Required by Systems Analysts</vt:lpstr>
      <vt:lpstr>Programmers in systems development</vt:lpstr>
      <vt:lpstr>System Analysis and Design (SAD)</vt:lpstr>
      <vt:lpstr>Systems Development Life Cycle (SDLC)</vt:lpstr>
      <vt:lpstr>Project identifying and selection</vt:lpstr>
      <vt:lpstr>Project initiation and planning  phase</vt:lpstr>
      <vt:lpstr>Analysis phase</vt:lpstr>
      <vt:lpstr>Design phase</vt:lpstr>
      <vt:lpstr>Design phase</vt:lpstr>
      <vt:lpstr>Implementation</vt:lpstr>
      <vt:lpstr>Maintances</vt:lpstr>
      <vt:lpstr>Computer-Aided Systems Engineering (CASE tools)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Analysis and Design </dc:title>
  <dc:creator>Quoc Dinh Truong</dc:creator>
  <cp:lastModifiedBy>Quoc Dinh Truong</cp:lastModifiedBy>
  <cp:revision>59</cp:revision>
  <dcterms:created xsi:type="dcterms:W3CDTF">2018-12-03T14:50:03Z</dcterms:created>
  <dcterms:modified xsi:type="dcterms:W3CDTF">2018-12-26T12:47:33Z</dcterms:modified>
</cp:coreProperties>
</file>