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50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449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05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7584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7702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3796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36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6951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089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492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7171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6CB8A38-4E14-4BBF-966A-3F9C3CC04ED7}" type="datetimeFigureOut">
              <a:rPr lang="vi-VN" smtClean="0"/>
              <a:t>25/02/2019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41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174" y="2370897"/>
            <a:ext cx="10058400" cy="1450757"/>
          </a:xfrm>
        </p:spPr>
        <p:txBody>
          <a:bodyPr/>
          <a:lstStyle/>
          <a:p>
            <a:pPr algn="ctr"/>
            <a:r>
              <a:rPr lang="en-US" dirty="0" smtClean="0"/>
              <a:t>DATA FLOW DIAGRAM - DFD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46565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Key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Process </a:t>
            </a:r>
            <a:r>
              <a:rPr lang="en-US" sz="2800" dirty="0">
                <a:solidFill>
                  <a:srgbClr val="FF0000"/>
                </a:solidFill>
              </a:rPr>
              <a:t>model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A formal way of representing </a:t>
            </a:r>
            <a:r>
              <a:rPr lang="en-US" sz="2400" dirty="0">
                <a:solidFill>
                  <a:srgbClr val="0070C0"/>
                </a:solidFill>
              </a:rPr>
              <a:t>how </a:t>
            </a:r>
            <a:r>
              <a:rPr lang="en-US" sz="2400" dirty="0" smtClean="0">
                <a:solidFill>
                  <a:srgbClr val="0070C0"/>
                </a:solidFill>
              </a:rPr>
              <a:t>a business </a:t>
            </a:r>
            <a:r>
              <a:rPr lang="en-US" sz="2400" dirty="0">
                <a:solidFill>
                  <a:srgbClr val="0070C0"/>
                </a:solidFill>
              </a:rPr>
              <a:t>system </a:t>
            </a:r>
            <a:r>
              <a:rPr lang="en-US" sz="2400" dirty="0" smtClean="0">
                <a:solidFill>
                  <a:srgbClr val="0070C0"/>
                </a:solidFill>
              </a:rPr>
              <a:t>operates</a:t>
            </a:r>
            <a:r>
              <a:rPr lang="en-US" sz="2400" dirty="0" smtClean="0"/>
              <a:t>.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Illustrates the activities</a:t>
            </a:r>
            <a:r>
              <a:rPr lang="en-US" sz="2400" dirty="0"/>
              <a:t> that are </a:t>
            </a:r>
            <a:r>
              <a:rPr lang="en-US" sz="2400" dirty="0" smtClean="0"/>
              <a:t>performed and </a:t>
            </a:r>
            <a:r>
              <a:rPr lang="en-US" sz="2400" dirty="0">
                <a:solidFill>
                  <a:srgbClr val="0070C0"/>
                </a:solidFill>
              </a:rPr>
              <a:t>how data moves among </a:t>
            </a:r>
            <a:r>
              <a:rPr lang="en-US" sz="2400" dirty="0" smtClean="0">
                <a:solidFill>
                  <a:srgbClr val="0070C0"/>
                </a:solidFill>
              </a:rPr>
              <a:t>them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Data </a:t>
            </a:r>
            <a:r>
              <a:rPr lang="en-US" sz="2800" dirty="0">
                <a:solidFill>
                  <a:srgbClr val="FF0000"/>
                </a:solidFill>
              </a:rPr>
              <a:t>flow diagramming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A common technique for creating </a:t>
            </a:r>
            <a:r>
              <a:rPr lang="en-US" sz="2400" dirty="0" smtClean="0"/>
              <a:t>process models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327120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Key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Logical</a:t>
            </a:r>
            <a:r>
              <a:rPr lang="en-US" sz="2800" dirty="0">
                <a:solidFill>
                  <a:schemeClr val="tx1"/>
                </a:solidFill>
              </a:rPr>
              <a:t> process models </a:t>
            </a:r>
            <a:r>
              <a:rPr lang="en-US" sz="2800" dirty="0" smtClean="0">
                <a:solidFill>
                  <a:schemeClr val="tx1"/>
                </a:solidFill>
              </a:rPr>
              <a:t>describe processes </a:t>
            </a:r>
            <a:r>
              <a:rPr lang="en-US" sz="2800" dirty="0">
                <a:solidFill>
                  <a:schemeClr val="tx1"/>
                </a:solidFill>
              </a:rPr>
              <a:t>without suggesting </a:t>
            </a:r>
            <a:r>
              <a:rPr lang="en-US" sz="2800" dirty="0" smtClean="0">
                <a:solidFill>
                  <a:schemeClr val="tx1"/>
                </a:solidFill>
              </a:rPr>
              <a:t>how they </a:t>
            </a:r>
            <a:r>
              <a:rPr lang="en-US" sz="2800" dirty="0">
                <a:solidFill>
                  <a:schemeClr val="tx1"/>
                </a:solidFill>
              </a:rPr>
              <a:t>are </a:t>
            </a:r>
            <a:r>
              <a:rPr lang="en-US" sz="2800" dirty="0" smtClean="0">
                <a:solidFill>
                  <a:schemeClr val="tx1"/>
                </a:solidFill>
              </a:rPr>
              <a:t>conducted.</a:t>
            </a:r>
            <a:endParaRPr lang="en-US" sz="28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Physical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process models </a:t>
            </a:r>
            <a:r>
              <a:rPr lang="en-US" sz="2800" dirty="0" smtClean="0">
                <a:solidFill>
                  <a:schemeClr val="tx1"/>
                </a:solidFill>
              </a:rPr>
              <a:t>provide information </a:t>
            </a:r>
            <a:r>
              <a:rPr lang="en-US" sz="2800" dirty="0">
                <a:solidFill>
                  <a:schemeClr val="tx1"/>
                </a:solidFill>
              </a:rPr>
              <a:t>that is needed to </a:t>
            </a:r>
            <a:r>
              <a:rPr lang="en-US" sz="2800" dirty="0" smtClean="0">
                <a:solidFill>
                  <a:schemeClr val="tx1"/>
                </a:solidFill>
              </a:rPr>
              <a:t>build the system.</a:t>
            </a:r>
            <a:endParaRPr lang="vi-V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80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DFD example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825" y="1423327"/>
            <a:ext cx="7507175" cy="543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4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Elements of a DFD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Process</a:t>
            </a:r>
            <a:endParaRPr lang="en-US" sz="28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 smtClean="0"/>
              <a:t> An </a:t>
            </a:r>
            <a:r>
              <a:rPr lang="en-US" sz="2600" dirty="0">
                <a:solidFill>
                  <a:srgbClr val="0070C0"/>
                </a:solidFill>
              </a:rPr>
              <a:t>activity or function</a:t>
            </a:r>
            <a:r>
              <a:rPr lang="en-US" sz="2600" dirty="0"/>
              <a:t> performed for </a:t>
            </a:r>
            <a:r>
              <a:rPr lang="en-US" sz="2600" dirty="0" smtClean="0"/>
              <a:t>a specific </a:t>
            </a:r>
            <a:r>
              <a:rPr lang="en-US" sz="2600" dirty="0"/>
              <a:t>business </a:t>
            </a:r>
            <a:r>
              <a:rPr lang="en-US" sz="2600" dirty="0" smtClean="0"/>
              <a:t>reason.</a:t>
            </a:r>
            <a:endParaRPr lang="en-US" sz="2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 smtClean="0"/>
              <a:t> Manual </a:t>
            </a:r>
            <a:r>
              <a:rPr lang="en-US" sz="2600" dirty="0"/>
              <a:t>or </a:t>
            </a:r>
            <a:r>
              <a:rPr lang="en-US" sz="2600" dirty="0" smtClean="0">
                <a:solidFill>
                  <a:srgbClr val="0070C0"/>
                </a:solidFill>
              </a:rPr>
              <a:t>computerized</a:t>
            </a:r>
            <a:r>
              <a:rPr lang="en-US" sz="2600" dirty="0" smtClean="0"/>
              <a:t>.</a:t>
            </a:r>
            <a:endParaRPr lang="en-US" sz="2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Data </a:t>
            </a:r>
            <a:r>
              <a:rPr lang="en-US" sz="2800" dirty="0">
                <a:solidFill>
                  <a:srgbClr val="FF0000"/>
                </a:solidFill>
              </a:rPr>
              <a:t>flow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 smtClean="0"/>
              <a:t> A </a:t>
            </a:r>
            <a:r>
              <a:rPr lang="en-US" sz="2600" dirty="0"/>
              <a:t>single piece of data or a </a:t>
            </a:r>
            <a:r>
              <a:rPr lang="en-US" sz="2600" dirty="0" smtClean="0"/>
              <a:t>logical collection </a:t>
            </a:r>
            <a:r>
              <a:rPr lang="en-US" sz="2600" dirty="0"/>
              <a:t>of </a:t>
            </a:r>
            <a:r>
              <a:rPr lang="en-US" sz="2600" dirty="0" smtClean="0"/>
              <a:t>data.</a:t>
            </a:r>
            <a:endParaRPr lang="en-US" sz="2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 smtClean="0"/>
              <a:t> Always </a:t>
            </a:r>
            <a:r>
              <a:rPr lang="en-US" sz="2600" dirty="0"/>
              <a:t>starts or ends at a </a:t>
            </a:r>
            <a:r>
              <a:rPr lang="en-US" sz="2600" dirty="0" smtClean="0"/>
              <a:t>process.</a:t>
            </a:r>
            <a:endParaRPr lang="vi-VN" sz="2600" dirty="0"/>
          </a:p>
        </p:txBody>
      </p:sp>
    </p:spTree>
    <p:extLst>
      <p:ext uri="{BB962C8B-B14F-4D97-AF65-F5344CB8AC3E}">
        <p14:creationId xmlns:p14="http://schemas.microsoft.com/office/powerpoint/2010/main" val="162394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Elements of a DFD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Data Store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tx1"/>
                </a:solidFill>
              </a:rPr>
              <a:t>A collection of data that is stored in </a:t>
            </a:r>
            <a:r>
              <a:rPr lang="en-US" sz="2600" dirty="0" smtClean="0">
                <a:solidFill>
                  <a:schemeClr val="tx1"/>
                </a:solidFill>
              </a:rPr>
              <a:t>some way.</a:t>
            </a:r>
            <a:endParaRPr lang="en-US" sz="26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Data flowing out</a:t>
            </a:r>
            <a:r>
              <a:rPr lang="en-US" sz="2600" dirty="0">
                <a:solidFill>
                  <a:schemeClr val="tx1"/>
                </a:solidFill>
              </a:rPr>
              <a:t> is retrieved from the </a:t>
            </a:r>
            <a:r>
              <a:rPr lang="en-US" sz="2600" dirty="0" smtClean="0">
                <a:solidFill>
                  <a:schemeClr val="tx1"/>
                </a:solidFill>
              </a:rPr>
              <a:t>data store.</a:t>
            </a:r>
            <a:endParaRPr lang="en-US" sz="26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Data flowing in</a:t>
            </a:r>
            <a:r>
              <a:rPr lang="en-US" sz="2600" dirty="0">
                <a:solidFill>
                  <a:schemeClr val="tx1"/>
                </a:solidFill>
              </a:rPr>
              <a:t> updates or is added to </a:t>
            </a:r>
            <a:r>
              <a:rPr lang="en-US" sz="2600" dirty="0" smtClean="0">
                <a:solidFill>
                  <a:schemeClr val="tx1"/>
                </a:solidFill>
              </a:rPr>
              <a:t>the data store.</a:t>
            </a:r>
            <a:endParaRPr lang="en-US" sz="26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External </a:t>
            </a:r>
            <a:r>
              <a:rPr lang="en-US" sz="2800" dirty="0">
                <a:solidFill>
                  <a:srgbClr val="FF0000"/>
                </a:solidFill>
              </a:rPr>
              <a:t>entity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tx1"/>
                </a:solidFill>
              </a:rPr>
              <a:t>A person, organization, or system that </a:t>
            </a:r>
            <a:r>
              <a:rPr lang="en-US" sz="2600" dirty="0" smtClean="0">
                <a:solidFill>
                  <a:schemeClr val="tx1"/>
                </a:solidFill>
              </a:rPr>
              <a:t>is </a:t>
            </a:r>
            <a:r>
              <a:rPr lang="en-US" sz="2800" dirty="0" smtClean="0">
                <a:solidFill>
                  <a:schemeClr val="tx1"/>
                </a:solidFill>
              </a:rPr>
              <a:t>external </a:t>
            </a:r>
            <a:r>
              <a:rPr lang="en-US" sz="2800" dirty="0">
                <a:solidFill>
                  <a:schemeClr val="tx1"/>
                </a:solidFill>
              </a:rPr>
              <a:t>to the system but interacts with it.</a:t>
            </a:r>
            <a:endParaRPr lang="vi-VN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12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Elements of a DFD</a:t>
            </a:r>
            <a:endParaRPr lang="vi-V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667" y="1737360"/>
            <a:ext cx="8891626" cy="485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66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DFD to Define Business</a:t>
            </a:r>
            <a:br>
              <a:rPr lang="en-US" dirty="0"/>
            </a:br>
            <a:r>
              <a:rPr lang="en-US" dirty="0"/>
              <a:t>Processes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Business </a:t>
            </a:r>
            <a:r>
              <a:rPr lang="en-US" sz="2800" dirty="0"/>
              <a:t>processes are too </a:t>
            </a:r>
            <a:r>
              <a:rPr lang="en-US" sz="2800" dirty="0" smtClean="0"/>
              <a:t>complex to </a:t>
            </a:r>
            <a:r>
              <a:rPr lang="en-US" sz="2800" dirty="0"/>
              <a:t>be shown on a single </a:t>
            </a:r>
            <a:r>
              <a:rPr lang="en-US" sz="2800" dirty="0" smtClean="0"/>
              <a:t>DFD.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Decomposition</a:t>
            </a:r>
            <a:r>
              <a:rPr lang="en-US" sz="2800" dirty="0" smtClean="0"/>
              <a:t> </a:t>
            </a:r>
            <a:r>
              <a:rPr lang="en-US" sz="2800" dirty="0"/>
              <a:t>is the process </a:t>
            </a:r>
            <a:r>
              <a:rPr lang="en-US" sz="2800" dirty="0" smtClean="0"/>
              <a:t>of representing </a:t>
            </a:r>
            <a:r>
              <a:rPr lang="en-US" sz="2800" dirty="0"/>
              <a:t>the system in </a:t>
            </a:r>
            <a:r>
              <a:rPr lang="en-US" sz="2800" dirty="0" smtClean="0"/>
              <a:t>a hierarchy </a:t>
            </a:r>
            <a:r>
              <a:rPr lang="en-US" sz="2800" dirty="0"/>
              <a:t>of DFD </a:t>
            </a:r>
            <a:r>
              <a:rPr lang="en-US" sz="2800" dirty="0" smtClean="0"/>
              <a:t>diagrams.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Child </a:t>
            </a:r>
            <a:r>
              <a:rPr lang="en-US" sz="2800" dirty="0">
                <a:solidFill>
                  <a:srgbClr val="FF0000"/>
                </a:solidFill>
              </a:rPr>
              <a:t>diagrams </a:t>
            </a:r>
            <a:r>
              <a:rPr lang="en-US" sz="2800" dirty="0"/>
              <a:t>show a portion of </a:t>
            </a:r>
            <a:r>
              <a:rPr lang="en-US" sz="2800" dirty="0" smtClean="0"/>
              <a:t>the parent </a:t>
            </a:r>
            <a:r>
              <a:rPr lang="en-US" sz="2800" dirty="0"/>
              <a:t>diagram in </a:t>
            </a:r>
            <a:r>
              <a:rPr lang="en-US" sz="2800" dirty="0">
                <a:solidFill>
                  <a:srgbClr val="FF0000"/>
                </a:solidFill>
              </a:rPr>
              <a:t>greater </a:t>
            </a:r>
            <a:r>
              <a:rPr lang="en-US" sz="2800" dirty="0" smtClean="0">
                <a:solidFill>
                  <a:srgbClr val="FF0000"/>
                </a:solidFill>
              </a:rPr>
              <a:t>detail</a:t>
            </a:r>
            <a:r>
              <a:rPr lang="en-US" sz="2800" dirty="0" smtClean="0"/>
              <a:t>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726384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Work or action performed on data (inside the system).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70C0"/>
                </a:solidFill>
              </a:rPr>
              <a:t>Labels should be verb phrases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Receives input data and produces output.</a:t>
            </a:r>
            <a:endParaRPr lang="vi-V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269" y="2098539"/>
            <a:ext cx="5462422" cy="175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47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Can have more than one outgoing data flow or more than one incoming data flow.</a:t>
            </a:r>
            <a:endParaRPr lang="vi-V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576" y="2699217"/>
            <a:ext cx="5735808" cy="368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55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Can connect to any other symbol (including another process symbol).</a:t>
            </a:r>
            <a:endParaRPr lang="vi-V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562" y="2928726"/>
            <a:ext cx="8719836" cy="245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62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Process: correct/incorrect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425" y="1737360"/>
            <a:ext cx="5247715" cy="510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980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Is a path for data move from one part of the information system to another.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Arrows depicting movement of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Can represent flow between process and data store by two separate arrows.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70C0"/>
                </a:solidFill>
              </a:rPr>
              <a:t>Labels should be noun phrases</a:t>
            </a:r>
            <a:r>
              <a:rPr lang="en-US" sz="2400" dirty="0" smtClean="0"/>
              <a:t>.</a:t>
            </a:r>
            <a:endParaRPr lang="vi-V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828" y="4072567"/>
            <a:ext cx="6603682" cy="212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87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Alternative Data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Where </a:t>
            </a:r>
            <a:r>
              <a:rPr lang="en-US" sz="2800" dirty="0"/>
              <a:t>a process can produce different </a:t>
            </a:r>
            <a:r>
              <a:rPr lang="en-US" sz="2800" dirty="0" smtClean="0"/>
              <a:t>data flows </a:t>
            </a:r>
            <a:r>
              <a:rPr lang="en-US" sz="2800" dirty="0"/>
              <a:t>given different </a:t>
            </a:r>
            <a:r>
              <a:rPr lang="en-US" sz="2800" dirty="0" smtClean="0"/>
              <a:t>conditions.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We </a:t>
            </a:r>
            <a:r>
              <a:rPr lang="en-US" sz="2800" dirty="0"/>
              <a:t>show both data flows and use the </a:t>
            </a:r>
            <a:r>
              <a:rPr lang="en-US" sz="2800" dirty="0" smtClean="0"/>
              <a:t>process description </a:t>
            </a:r>
            <a:r>
              <a:rPr lang="en-US" sz="2800" dirty="0"/>
              <a:t>to explain why they are </a:t>
            </a:r>
            <a:r>
              <a:rPr lang="en-US" sz="2800" dirty="0" smtClean="0"/>
              <a:t>alternatives.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Tip </a:t>
            </a:r>
            <a:r>
              <a:rPr lang="en-US" sz="2800" dirty="0"/>
              <a:t>-- alternative data flows often </a:t>
            </a:r>
            <a:r>
              <a:rPr lang="en-US" sz="2800" dirty="0" smtClean="0"/>
              <a:t>accompany processes </a:t>
            </a:r>
            <a:r>
              <a:rPr lang="en-US" sz="2800" dirty="0"/>
              <a:t>with IF </a:t>
            </a:r>
            <a:r>
              <a:rPr lang="en-US" sz="2800" dirty="0" smtClean="0"/>
              <a:t>statements.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749973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store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Is use in a DFD to represent data that the system stores.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Labels should be noun phrases.</a:t>
            </a:r>
            <a:endParaRPr lang="vi-V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864" y="3471862"/>
            <a:ext cx="4388929" cy="161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80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store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Must have at least one incoming data flow and one outgoing data flow.</a:t>
            </a:r>
            <a:endParaRPr lang="vi-V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602" y="2388253"/>
            <a:ext cx="2801751" cy="40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74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Source/Sink (external entity)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External </a:t>
            </a:r>
            <a:r>
              <a:rPr lang="en-US" sz="2800" dirty="0"/>
              <a:t>entity that is </a:t>
            </a:r>
            <a:r>
              <a:rPr lang="en-US" sz="2800" dirty="0">
                <a:solidFill>
                  <a:srgbClr val="FF0000"/>
                </a:solidFill>
              </a:rPr>
              <a:t>origin or destination of data</a:t>
            </a:r>
            <a:r>
              <a:rPr lang="en-US" sz="2800" dirty="0"/>
              <a:t> (outside the </a:t>
            </a:r>
            <a:r>
              <a:rPr lang="en-US" sz="2800" dirty="0" smtClean="0"/>
              <a:t>system).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Is </a:t>
            </a:r>
            <a:r>
              <a:rPr lang="en-US" sz="2800" dirty="0"/>
              <a:t>the singular form of a department, outside </a:t>
            </a:r>
            <a:r>
              <a:rPr lang="en-US" sz="2800" dirty="0" smtClean="0"/>
              <a:t>organization, </a:t>
            </a:r>
            <a:r>
              <a:rPr lang="en-US" sz="2800" dirty="0"/>
              <a:t>other </a:t>
            </a:r>
            <a:r>
              <a:rPr lang="en-US" sz="2800" dirty="0" smtClean="0"/>
              <a:t>information system, </a:t>
            </a:r>
            <a:r>
              <a:rPr lang="en-US" sz="2800" dirty="0"/>
              <a:t>or </a:t>
            </a:r>
            <a:r>
              <a:rPr lang="en-US" sz="2800" dirty="0" smtClean="0"/>
              <a:t>person.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Labels </a:t>
            </a:r>
            <a:r>
              <a:rPr lang="en-US" sz="2800" dirty="0">
                <a:solidFill>
                  <a:srgbClr val="0070C0"/>
                </a:solidFill>
              </a:rPr>
              <a:t>should be noun </a:t>
            </a:r>
            <a:r>
              <a:rPr lang="en-US" sz="2800" dirty="0" smtClean="0">
                <a:solidFill>
                  <a:srgbClr val="0070C0"/>
                </a:solidFill>
              </a:rPr>
              <a:t>phrases</a:t>
            </a:r>
            <a:r>
              <a:rPr lang="en-US" sz="28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Source </a:t>
            </a:r>
            <a:r>
              <a:rPr lang="en-US" sz="2800" dirty="0"/>
              <a:t>– Entity that supplies data to the </a:t>
            </a:r>
            <a:r>
              <a:rPr lang="en-US" sz="2800" dirty="0" smtClean="0"/>
              <a:t>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Sink </a:t>
            </a:r>
            <a:r>
              <a:rPr lang="en-US" sz="2800" dirty="0"/>
              <a:t>– Entity that receives data from the </a:t>
            </a:r>
            <a:r>
              <a:rPr lang="en-US" sz="2800" dirty="0" smtClean="0"/>
              <a:t>system.</a:t>
            </a:r>
            <a:endParaRPr lang="vi-V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745" y="5351929"/>
            <a:ext cx="4473255" cy="150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54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Source/Sink (external entity)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Must be connected to a process by a data flow.</a:t>
            </a:r>
            <a:endParaRPr lang="vi-V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902" y="2335935"/>
            <a:ext cx="2188509" cy="415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28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that connects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433" y="1966758"/>
            <a:ext cx="8466093" cy="458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93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Context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First </a:t>
            </a:r>
            <a:r>
              <a:rPr lang="en-US" sz="2800" dirty="0"/>
              <a:t>DFD in every business </a:t>
            </a:r>
            <a:r>
              <a:rPr lang="en-US" sz="2800" dirty="0" smtClean="0"/>
              <a:t>process.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Shows </a:t>
            </a:r>
            <a:r>
              <a:rPr lang="en-US" sz="2800" dirty="0"/>
              <a:t>the context into which </a:t>
            </a:r>
            <a:r>
              <a:rPr lang="en-US" sz="2800" dirty="0" smtClean="0"/>
              <a:t>the business </a:t>
            </a:r>
            <a:r>
              <a:rPr lang="en-US" sz="2800" dirty="0"/>
              <a:t>process </a:t>
            </a:r>
            <a:r>
              <a:rPr lang="en-US" sz="2800" dirty="0" smtClean="0"/>
              <a:t>fits.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Shows </a:t>
            </a:r>
            <a:r>
              <a:rPr lang="en-US" sz="2800" dirty="0">
                <a:solidFill>
                  <a:srgbClr val="FF0000"/>
                </a:solidFill>
              </a:rPr>
              <a:t>the overall business process </a:t>
            </a:r>
            <a:r>
              <a:rPr lang="en-US" sz="2800" dirty="0" smtClean="0">
                <a:solidFill>
                  <a:srgbClr val="FF0000"/>
                </a:solidFill>
              </a:rPr>
              <a:t>as just </a:t>
            </a:r>
            <a:r>
              <a:rPr lang="en-US" sz="2800" dirty="0">
                <a:solidFill>
                  <a:srgbClr val="FF0000"/>
                </a:solidFill>
              </a:rPr>
              <a:t>one process (process 0</a:t>
            </a:r>
            <a:r>
              <a:rPr lang="en-US" sz="2800" dirty="0" smtClean="0">
                <a:solidFill>
                  <a:srgbClr val="FF0000"/>
                </a:solidFill>
              </a:rPr>
              <a:t>)</a:t>
            </a:r>
            <a:r>
              <a:rPr lang="en-US" sz="2800" dirty="0" smtClean="0"/>
              <a:t>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Shows </a:t>
            </a:r>
            <a:r>
              <a:rPr lang="en-US" sz="2800" dirty="0">
                <a:solidFill>
                  <a:srgbClr val="0070C0"/>
                </a:solidFill>
              </a:rPr>
              <a:t>all the external entities </a:t>
            </a:r>
            <a:r>
              <a:rPr lang="en-US" sz="2800" dirty="0" smtClean="0">
                <a:solidFill>
                  <a:srgbClr val="0070C0"/>
                </a:solidFill>
              </a:rPr>
              <a:t>that receive </a:t>
            </a:r>
            <a:r>
              <a:rPr lang="en-US" sz="2800" dirty="0">
                <a:solidFill>
                  <a:srgbClr val="0070C0"/>
                </a:solidFill>
              </a:rPr>
              <a:t>information from or </a:t>
            </a:r>
            <a:r>
              <a:rPr lang="en-US" sz="2800" dirty="0" smtClean="0">
                <a:solidFill>
                  <a:srgbClr val="0070C0"/>
                </a:solidFill>
              </a:rPr>
              <a:t>contribute information </a:t>
            </a:r>
            <a:r>
              <a:rPr lang="en-US" sz="2800" dirty="0">
                <a:solidFill>
                  <a:srgbClr val="0070C0"/>
                </a:solidFill>
              </a:rPr>
              <a:t>to the </a:t>
            </a:r>
            <a:r>
              <a:rPr lang="en-US" sz="2800" dirty="0" smtClean="0">
                <a:solidFill>
                  <a:srgbClr val="0070C0"/>
                </a:solidFill>
              </a:rPr>
              <a:t>system.</a:t>
            </a:r>
            <a:endParaRPr lang="vi-VN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409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Level 0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Shows </a:t>
            </a:r>
            <a:r>
              <a:rPr lang="en-US" sz="2800" dirty="0">
                <a:solidFill>
                  <a:srgbClr val="0070C0"/>
                </a:solidFill>
              </a:rPr>
              <a:t>all the major processes </a:t>
            </a:r>
            <a:r>
              <a:rPr lang="en-US" sz="2800" dirty="0" smtClean="0">
                <a:solidFill>
                  <a:srgbClr val="0070C0"/>
                </a:solidFill>
              </a:rPr>
              <a:t>that comprise </a:t>
            </a:r>
            <a:r>
              <a:rPr lang="en-US" sz="2800" dirty="0">
                <a:solidFill>
                  <a:srgbClr val="0070C0"/>
                </a:solidFill>
              </a:rPr>
              <a:t>the overall system</a:t>
            </a:r>
            <a:r>
              <a:rPr lang="en-US" sz="2800" dirty="0"/>
              <a:t> – the </a:t>
            </a:r>
            <a:r>
              <a:rPr lang="en-US" sz="2800" dirty="0" smtClean="0"/>
              <a:t>internal components </a:t>
            </a:r>
            <a:r>
              <a:rPr lang="en-US" sz="2800" dirty="0"/>
              <a:t>of process </a:t>
            </a:r>
            <a:r>
              <a:rPr lang="en-US" sz="2800" dirty="0" smtClean="0"/>
              <a:t>0.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Shows </a:t>
            </a:r>
            <a:r>
              <a:rPr lang="en-US" sz="2800" dirty="0"/>
              <a:t>how the major processes </a:t>
            </a:r>
            <a:r>
              <a:rPr lang="en-US" sz="2800" dirty="0" smtClean="0"/>
              <a:t>are interrelated </a:t>
            </a:r>
            <a:r>
              <a:rPr lang="en-US" sz="2800" dirty="0"/>
              <a:t>by data </a:t>
            </a:r>
            <a:r>
              <a:rPr lang="en-US" sz="2800" dirty="0" smtClean="0"/>
              <a:t>flows.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Shows </a:t>
            </a:r>
            <a:r>
              <a:rPr lang="en-US" sz="2800" dirty="0"/>
              <a:t>external entities and the </a:t>
            </a:r>
            <a:r>
              <a:rPr lang="en-US" sz="2800" dirty="0" smtClean="0"/>
              <a:t>major processes </a:t>
            </a:r>
            <a:r>
              <a:rPr lang="en-US" sz="2800" dirty="0"/>
              <a:t>with which they </a:t>
            </a:r>
            <a:r>
              <a:rPr lang="en-US" sz="2800" dirty="0" smtClean="0"/>
              <a:t>interact.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Adds </a:t>
            </a:r>
            <a:r>
              <a:rPr lang="en-US" sz="2800" dirty="0">
                <a:solidFill>
                  <a:srgbClr val="0070C0"/>
                </a:solidFill>
              </a:rPr>
              <a:t>data </a:t>
            </a:r>
            <a:r>
              <a:rPr lang="en-US" sz="2800" dirty="0" smtClean="0">
                <a:solidFill>
                  <a:srgbClr val="0070C0"/>
                </a:solidFill>
              </a:rPr>
              <a:t>stores</a:t>
            </a:r>
            <a:r>
              <a:rPr lang="en-US" sz="2800" dirty="0" smtClean="0"/>
              <a:t>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769070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Lower-Level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Functional Decomposition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An </a:t>
            </a:r>
            <a:r>
              <a:rPr lang="en-US" sz="2400" dirty="0"/>
              <a:t>iterative process of breaking a system description down into finer and finer </a:t>
            </a:r>
            <a:r>
              <a:rPr lang="en-US" sz="2400" dirty="0" smtClean="0"/>
              <a:t>detail.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Uses </a:t>
            </a:r>
            <a:r>
              <a:rPr lang="en-US" sz="2400" dirty="0"/>
              <a:t>a series of increasingly detailed DFDs to describe an </a:t>
            </a:r>
            <a:r>
              <a:rPr lang="en-US" sz="2400" dirty="0" smtClean="0"/>
              <a:t>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Balancing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The </a:t>
            </a:r>
            <a:r>
              <a:rPr lang="en-US" sz="2400" dirty="0"/>
              <a:t>conservation of inputs and outputs to a data flow process when that process is decomposed to a lower </a:t>
            </a:r>
            <a:r>
              <a:rPr lang="en-US" sz="2400" dirty="0" smtClean="0"/>
              <a:t>level.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Ensures </a:t>
            </a:r>
            <a:r>
              <a:rPr lang="en-US" sz="2400" dirty="0"/>
              <a:t>that the input and output data flows of the parent DFD are maintained on the child </a:t>
            </a:r>
            <a:r>
              <a:rPr lang="en-US" sz="2400" dirty="0" smtClean="0"/>
              <a:t>DFD.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2108533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Strategies for Developing DFDs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vi-VN" sz="2800" dirty="0" smtClean="0"/>
              <a:t> </a:t>
            </a:r>
            <a:r>
              <a:rPr lang="vi-VN" sz="2800" dirty="0" smtClean="0">
                <a:solidFill>
                  <a:srgbClr val="FF0000"/>
                </a:solidFill>
              </a:rPr>
              <a:t>Top-down strategy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400" dirty="0" smtClean="0"/>
              <a:t>Create </a:t>
            </a:r>
            <a:r>
              <a:rPr lang="vi-VN" sz="2400" dirty="0"/>
              <a:t>the high-level diagrams (Context Diagram), then low-level diagrams (Level-0 diagram), and so </a:t>
            </a:r>
            <a:r>
              <a:rPr lang="vi-VN" sz="2400" dirty="0" smtClean="0"/>
              <a:t>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2800" dirty="0" smtClean="0"/>
              <a:t> </a:t>
            </a:r>
            <a:r>
              <a:rPr lang="vi-VN" sz="2800" dirty="0" smtClean="0">
                <a:solidFill>
                  <a:srgbClr val="FF0000"/>
                </a:solidFill>
              </a:rPr>
              <a:t>Bottom-up strategy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400" dirty="0" smtClean="0"/>
              <a:t>Create </a:t>
            </a:r>
            <a:r>
              <a:rPr lang="vi-VN" sz="2400" dirty="0"/>
              <a:t>the low-level diagrams, then higher-level diagrams</a:t>
            </a:r>
          </a:p>
        </p:txBody>
      </p:sp>
    </p:spTree>
    <p:extLst>
      <p:ext uri="{BB962C8B-B14F-4D97-AF65-F5344CB8AC3E}">
        <p14:creationId xmlns:p14="http://schemas.microsoft.com/office/powerpoint/2010/main" val="3925605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Functional Decompositon Diagram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1026" name="Picture 2" descr="Káº¿t quáº£ hÃ¬nh áº£nh cho dfd functional decomposition 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06" y="2265239"/>
            <a:ext cx="10990148" cy="371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13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Event table</a:t>
            </a:r>
            <a:endParaRPr lang="vi-V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223046"/>
              </p:ext>
            </p:extLst>
          </p:nvPr>
        </p:nvGraphicFramePr>
        <p:xfrm>
          <a:off x="255495" y="1846263"/>
          <a:ext cx="1173928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410"/>
                <a:gridCol w="1467410"/>
                <a:gridCol w="1467410"/>
                <a:gridCol w="1467410"/>
                <a:gridCol w="1467410"/>
                <a:gridCol w="1467410"/>
                <a:gridCol w="1467410"/>
                <a:gridCol w="1467410"/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Trigger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Retrieving data</a:t>
                      </a:r>
                      <a:r>
                        <a:rPr lang="vi-V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store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Updating data</a:t>
                      </a:r>
                      <a:r>
                        <a:rPr lang="vi-V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store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vi-V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875" y="2966086"/>
            <a:ext cx="6962520" cy="389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132035"/>
            <a:ext cx="10058400" cy="1450757"/>
          </a:xfrm>
        </p:spPr>
        <p:txBody>
          <a:bodyPr/>
          <a:lstStyle/>
          <a:p>
            <a:pPr algn="ctr"/>
            <a:r>
              <a:rPr lang="vi-VN" dirty="0" smtClean="0"/>
              <a:t>Process specification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657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 dirty="0"/>
              <a:t>Process Specifications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/>
              <a:t>methods available for documenting and analyzing the logic of structured decisions include structured English, decision tables, and decision </a:t>
            </a:r>
            <a:r>
              <a:rPr lang="en-US" sz="2800" dirty="0" smtClean="0"/>
              <a:t>trees.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Process </a:t>
            </a:r>
            <a:r>
              <a:rPr lang="en-US" sz="2800" dirty="0"/>
              <a:t>specifications are created for primitive processes and some higher level processes on a data flow </a:t>
            </a:r>
            <a:r>
              <a:rPr lang="en-US" sz="2800" dirty="0" smtClean="0"/>
              <a:t>diagram.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They </a:t>
            </a:r>
            <a:r>
              <a:rPr lang="en-US" sz="2800" dirty="0"/>
              <a:t>are also called </a:t>
            </a:r>
            <a:r>
              <a:rPr lang="en-US" sz="2800" dirty="0" err="1" smtClean="0"/>
              <a:t>minispecs</a:t>
            </a:r>
            <a:r>
              <a:rPr lang="en-US" sz="2800" dirty="0" smtClean="0"/>
              <a:t>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60888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Creating Process Specifications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Reduce </a:t>
            </a:r>
            <a:r>
              <a:rPr lang="en-US" sz="2800" dirty="0"/>
              <a:t>process </a:t>
            </a:r>
            <a:r>
              <a:rPr lang="en-US" sz="2800" dirty="0" smtClean="0"/>
              <a:t>ambiguity.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Obtain </a:t>
            </a:r>
            <a:r>
              <a:rPr lang="en-US" sz="2800" dirty="0"/>
              <a:t>a precise description of what is </a:t>
            </a:r>
            <a:r>
              <a:rPr lang="en-US" sz="2800" dirty="0" smtClean="0"/>
              <a:t>accomplished.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Validate </a:t>
            </a:r>
            <a:r>
              <a:rPr lang="en-US" sz="2800" dirty="0"/>
              <a:t>the system design, including data flow diagrams and the data </a:t>
            </a:r>
            <a:r>
              <a:rPr lang="en-US" sz="2800" dirty="0" smtClean="0"/>
              <a:t>dictionary.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222992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Process Specification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/>
              <a:t>process number, which must match the process ID on the data flow </a:t>
            </a:r>
            <a:r>
              <a:rPr lang="en-US" sz="2800" dirty="0" smtClean="0"/>
              <a:t>diagram.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/>
              <a:t>process name, the same as displays within the process symbol on the </a:t>
            </a:r>
            <a:r>
              <a:rPr lang="en-US" sz="2800" dirty="0" smtClean="0"/>
              <a:t>DFD.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 </a:t>
            </a:r>
            <a:r>
              <a:rPr lang="en-US" sz="2800" dirty="0"/>
              <a:t>brief description of what the process </a:t>
            </a:r>
            <a:r>
              <a:rPr lang="en-US" sz="2800" dirty="0" smtClean="0"/>
              <a:t>accomplishes.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 </a:t>
            </a:r>
            <a:r>
              <a:rPr lang="en-US" sz="2800" dirty="0"/>
              <a:t>list of input and output data flow, using the names found on the data flow </a:t>
            </a:r>
            <a:r>
              <a:rPr lang="en-US" sz="2800" dirty="0" smtClean="0"/>
              <a:t>diagram.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 </a:t>
            </a:r>
            <a:r>
              <a:rPr lang="en-US" sz="2800" dirty="0"/>
              <a:t>description of the process </a:t>
            </a:r>
            <a:r>
              <a:rPr lang="en-US" sz="2800" dirty="0" smtClean="0"/>
              <a:t>logic. This </a:t>
            </a:r>
            <a:r>
              <a:rPr lang="en-US" sz="2800" dirty="0"/>
              <a:t>should state policy and business rules, not computer language </a:t>
            </a:r>
            <a:r>
              <a:rPr lang="en-US" sz="2800" dirty="0" smtClean="0"/>
              <a:t>pseudocode.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3302773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173</TotalTime>
  <Words>934</Words>
  <Application>Microsoft Office PowerPoint</Application>
  <PresentationFormat>Widescreen</PresentationFormat>
  <Paragraphs>113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Wingdings</vt:lpstr>
      <vt:lpstr>Retrospect</vt:lpstr>
      <vt:lpstr>DATA FLOW DIAGRAM - DFD</vt:lpstr>
      <vt:lpstr>Key Definitions</vt:lpstr>
      <vt:lpstr>Key Definitions</vt:lpstr>
      <vt:lpstr>DFD example</vt:lpstr>
      <vt:lpstr>Elements of a DFD</vt:lpstr>
      <vt:lpstr>Elements of a DFD</vt:lpstr>
      <vt:lpstr>Elements of a DFD</vt:lpstr>
      <vt:lpstr>Using a DFD to Define Business Processes</vt:lpstr>
      <vt:lpstr>Process</vt:lpstr>
      <vt:lpstr>Process</vt:lpstr>
      <vt:lpstr>Process</vt:lpstr>
      <vt:lpstr>Process: correct/incorrect</vt:lpstr>
      <vt:lpstr>Data flow</vt:lpstr>
      <vt:lpstr>Alternative Data Flows</vt:lpstr>
      <vt:lpstr>Data store</vt:lpstr>
      <vt:lpstr>Data store</vt:lpstr>
      <vt:lpstr>Source/Sink (external entity)</vt:lpstr>
      <vt:lpstr>Source/Sink (external entity)</vt:lpstr>
      <vt:lpstr>Data flow that connects</vt:lpstr>
      <vt:lpstr>Context Diagram</vt:lpstr>
      <vt:lpstr>Level 0 Diagram</vt:lpstr>
      <vt:lpstr>Lower-Level Diagrams</vt:lpstr>
      <vt:lpstr>Strategies for Developing DFDs</vt:lpstr>
      <vt:lpstr>Functional Decompositon Diagram</vt:lpstr>
      <vt:lpstr>Event table</vt:lpstr>
      <vt:lpstr>Process specification</vt:lpstr>
      <vt:lpstr>Process Specifications</vt:lpstr>
      <vt:lpstr>Goal of Creating Process Specifications</vt:lpstr>
      <vt:lpstr>Process Specification Format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FLOW DIAGRAM - DFD</dc:title>
  <dc:creator>Quoc Dinh Truong</dc:creator>
  <cp:lastModifiedBy>Quoc Dinh Truong</cp:lastModifiedBy>
  <cp:revision>32</cp:revision>
  <dcterms:created xsi:type="dcterms:W3CDTF">2019-02-25T13:07:23Z</dcterms:created>
  <dcterms:modified xsi:type="dcterms:W3CDTF">2019-02-25T16:00:52Z</dcterms:modified>
</cp:coreProperties>
</file>